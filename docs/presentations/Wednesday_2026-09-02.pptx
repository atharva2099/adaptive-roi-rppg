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9f65961db4b4c" /><Relationship Type="http://schemas.openxmlformats.org/officeDocument/2006/relationships/extended-properties" Target="/docProps/app.xml" Id="R9d9ca1859edb49d3" /><Relationship Type="http://schemas.openxmlformats.org/officeDocument/2006/relationships/officeDocument" Target="/ppt/presentation.xml" Id="R5a3a6f283b99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7127032f44e7e"/>
  </p:sldMasterIdLst>
  <p:notesMasterIdLst>
    <p:notesMasterId xmlns:r="http://schemas.openxmlformats.org/officeDocument/2006/relationships" r:id="Rc26412c7bd614424"/>
  </p:notesMasterIdLst>
  <p:sldIdLst>
    <p:sldId xmlns:r="http://schemas.openxmlformats.org/officeDocument/2006/relationships" id="256" r:id="Re5352f3eeb6146c8"/>
    <p:sldId xmlns:r="http://schemas.openxmlformats.org/officeDocument/2006/relationships" id="257" r:id="Rdfde879fcb85446c"/>
    <p:sldId xmlns:r="http://schemas.openxmlformats.org/officeDocument/2006/relationships" id="258" r:id="Rcecbb6624aa74307"/>
    <p:sldId xmlns:r="http://schemas.openxmlformats.org/officeDocument/2006/relationships" id="259" r:id="Rcf9e91085d374b58"/>
    <p:sldId xmlns:r="http://schemas.openxmlformats.org/officeDocument/2006/relationships" id="260" r:id="Rba26b155e37b4e62"/>
    <p:sldId xmlns:r="http://schemas.openxmlformats.org/officeDocument/2006/relationships" id="261" r:id="R9e82c5f738fd474a"/>
    <p:sldId xmlns:r="http://schemas.openxmlformats.org/officeDocument/2006/relationships" id="262" r:id="Rcc3f4b3db8e34ef9"/>
    <p:sldId xmlns:r="http://schemas.openxmlformats.org/officeDocument/2006/relationships" id="263" r:id="R4396eed945a94250"/>
    <p:sldId xmlns:r="http://schemas.openxmlformats.org/officeDocument/2006/relationships" id="264" r:id="R1d8a0b0ab72a4624"/>
    <p:sldId xmlns:r="http://schemas.openxmlformats.org/officeDocument/2006/relationships" id="265" r:id="R4e8e2542b436426a"/>
    <p:sldId xmlns:r="http://schemas.openxmlformats.org/officeDocument/2006/relationships" id="266" r:id="Rd33958a233794052"/>
    <p:sldId xmlns:r="http://schemas.openxmlformats.org/officeDocument/2006/relationships" id="267" r:id="R1b004af96a724131"/>
    <p:sldId xmlns:r="http://schemas.openxmlformats.org/officeDocument/2006/relationships" id="268" r:id="R27b792d52fd64c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da5648a7804437" /><Relationship Type="http://schemas.openxmlformats.org/officeDocument/2006/relationships/slideMaster" Target="/ppt/slideMasters/slideMaster1.xml" Id="R0817127032f44e7e" /><Relationship Type="http://schemas.openxmlformats.org/officeDocument/2006/relationships/notesMaster" Target="/ppt/notesMasters/notesMaster1.xml" Id="Rc26412c7bd614424" /><Relationship Type="http://schemas.openxmlformats.org/officeDocument/2006/relationships/presProps" Target="/ppt/presProps.xml" Id="Rb39de9ed60b14482" /><Relationship Type="http://schemas.openxmlformats.org/officeDocument/2006/relationships/tableStyles" Target="/ppt/tableStyles.xml" Id="R9217faf7a12e45a9" /><Relationship Type="http://schemas.openxmlformats.org/officeDocument/2006/relationships/slide" Target="/ppt/slides/slide1.xml" Id="Re5352f3eeb6146c8" /><Relationship Type="http://schemas.openxmlformats.org/officeDocument/2006/relationships/slide" Target="/ppt/slides/slide2.xml" Id="Rdfde879fcb85446c" /><Relationship Type="http://schemas.openxmlformats.org/officeDocument/2006/relationships/slide" Target="/ppt/slides/slide3.xml" Id="Rcecbb6624aa74307" /><Relationship Type="http://schemas.openxmlformats.org/officeDocument/2006/relationships/slide" Target="/ppt/slides/slide4.xml" Id="Rcf9e91085d374b58" /><Relationship Type="http://schemas.openxmlformats.org/officeDocument/2006/relationships/slide" Target="/ppt/slides/slide5.xml" Id="Rba26b155e37b4e62" /><Relationship Type="http://schemas.openxmlformats.org/officeDocument/2006/relationships/slide" Target="/ppt/slides/slide6.xml" Id="R9e82c5f738fd474a" /><Relationship Type="http://schemas.openxmlformats.org/officeDocument/2006/relationships/slide" Target="/ppt/slides/slide7.xml" Id="Rcc3f4b3db8e34ef9" /><Relationship Type="http://schemas.openxmlformats.org/officeDocument/2006/relationships/slide" Target="/ppt/slides/slide8.xml" Id="R4396eed945a94250" /><Relationship Type="http://schemas.openxmlformats.org/officeDocument/2006/relationships/slide" Target="/ppt/slides/slide9.xml" Id="R1d8a0b0ab72a4624" /><Relationship Type="http://schemas.openxmlformats.org/officeDocument/2006/relationships/slide" Target="/ppt/slides/slide10.xml" Id="R4e8e2542b436426a" /><Relationship Type="http://schemas.openxmlformats.org/officeDocument/2006/relationships/slide" Target="/ppt/slides/slide11.xml" Id="Rd33958a233794052" /><Relationship Type="http://schemas.openxmlformats.org/officeDocument/2006/relationships/slide" Target="/ppt/slides/slide12.xml" Id="R1b004af96a724131" /><Relationship Type="http://schemas.openxmlformats.org/officeDocument/2006/relationships/slide" Target="/ppt/slides/slide13.xml" Id="R27b792d52fd6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a8ddf00b464b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9e4c425c34459" /><Relationship Type="http://schemas.openxmlformats.org/officeDocument/2006/relationships/notesMaster" Target="/ppt/notesMasters/notesMaster1.xml" Id="R98433a86fce44d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28eefc74234d66" /><Relationship Type="http://schemas.openxmlformats.org/officeDocument/2006/relationships/notesMaster" Target="/ppt/notesMasters/notesMaster1.xml" Id="Rc138cf77f47144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4dd37b90fd41a2" /><Relationship Type="http://schemas.openxmlformats.org/officeDocument/2006/relationships/notesMaster" Target="/ppt/notesMasters/notesMaster1.xml" Id="R899981af4a87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ceece5f7ad4c0a" /><Relationship Type="http://schemas.openxmlformats.org/officeDocument/2006/relationships/notesMaster" Target="/ppt/notesMasters/notesMaster1.xml" Id="R8bfaed885322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a667f2c4b468f" /><Relationship Type="http://schemas.openxmlformats.org/officeDocument/2006/relationships/notesMaster" Target="/ppt/notesMasters/notesMaster1.xml" Id="R47eb84e87007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ad5c83d4a2461c" /><Relationship Type="http://schemas.openxmlformats.org/officeDocument/2006/relationships/notesMaster" Target="/ppt/notesMasters/notesMaster1.xml" Id="R26d23b32cc4747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196c203f447f2" /><Relationship Type="http://schemas.openxmlformats.org/officeDocument/2006/relationships/notesMaster" Target="/ppt/notesMasters/notesMaster1.xml" Id="R5c79bd3391cf43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97e19c835249fc" /><Relationship Type="http://schemas.openxmlformats.org/officeDocument/2006/relationships/notesMaster" Target="/ppt/notesMasters/notesMaster1.xml" Id="R37a39043531b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a5c2fff9049e2" /><Relationship Type="http://schemas.openxmlformats.org/officeDocument/2006/relationships/notesMaster" Target="/ppt/notesMasters/notesMaster1.xml" Id="R45dab96700f3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d4fee6ea664b94" /><Relationship Type="http://schemas.openxmlformats.org/officeDocument/2006/relationships/notesMaster" Target="/ppt/notesMasters/notesMaster1.xml" Id="R501938c486ff44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b21120e3eb4496" /><Relationship Type="http://schemas.openxmlformats.org/officeDocument/2006/relationships/notesMaster" Target="/ppt/notesMasters/notesMaster1.xml" Id="Rdb3e3678cdb348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4c9c8e1ef446b" /><Relationship Type="http://schemas.openxmlformats.org/officeDocument/2006/relationships/notesMaster" Target="/ppt/notesMasters/notesMaster1.xml" Id="R79f8a13050544b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4b1e94d1944f89" /><Relationship Type="http://schemas.openxmlformats.org/officeDocument/2006/relationships/notesMaster" Target="/ppt/notesMasters/notesMaster1.xml" Id="R43a35b705d2d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update reports completed MCD-only diagnostics using frozen Advantage PPO checkpoints; it does not introduce a new training result.</a:t>
            </a:r>
          </a:p>
          <a:p xmlns:a="http://schemas.openxmlformats.org/drawingml/2006/main">
            <a:r>
              <a:t>- The central comparison separates ROI-selection alternatives from cases where recovered ROI POS estimates do not contain GT.</a:t>
            </a:r>
          </a:p>
          <a:p xmlns:a="http://schemas.openxmlformats.org/drawingml/2006/main">
            <a:r>
              <a:t>- Source: `docs/diagnostics/mcd_long_term_regret.md` and `docs/diagnostics/mcd_pos_extreme_range.md`.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docs/diagnostics/mcd_pos_extreme_range.md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controller is a frozen recurrent Proximal Policy Optimization (PPO) model that selects one ROI at each hop.</a:t>
            </a:r>
          </a:p>
          <a:p xmlns:a="http://schemas.openxmlformats.org/drawingml/2006/main">
            <a:r>
              <a:t>- All GT-informed alternatives in this update are offline diagnostics, not actions available to a deployable system.</a:t>
            </a:r>
          </a:p>
          <a:p xmlns:a="http://schemas.openxmlformats.org/drawingml/2006/main">
            <a:r>
              <a:t>- No MMPD data were accessed or used; all reported results are from the MCD evaluation split.</a:t>
            </a:r>
          </a:p>
          <a:p xmlns:a="http://schemas.openxmlformats.org/drawingml/2006/main">
            <a:r>
              <a:t>- Source: `docs/diagnostics/mcd_long_term_regret.md` and `docs/diagnostics/mcd_pos_extreme_range.md`.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docs/diagnostics/mcd_pos_extreme_range.md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Family values are arithmetic seed means, not ensembles.</a:t>
            </a:r>
          </a:p>
          <a:p xmlns:a="http://schemas.openxmlformats.org/drawingml/2006/main">
            <a:r>
              <a:t>- Source: `docs/gates/gate_08_mcd_frozen_models.md` and evidence-registry entry E-031.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docs/gates/gate_08_mcd_frozen_models.md</a:t>
            </a:r>
          </a:p>
          <a:p xmlns:a="http://schemas.openxmlformats.org/drawingml/2006/main">
            <a:r>
              <a:t>- docs/evidence_registry.md, E-031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source reports immediate counterfactual alternatives. By itself, it is not a 15-hop regret result.</a:t>
            </a:r>
          </a:p>
          <a:p xmlns:a="http://schemas.openxmlformats.org/drawingml/2006/main">
            <a:r>
              <a:t>- Remote source: `/Users/924254653/mcd_failure_eval_full2_20260826/output/full-eval2-20260826/merged/`.</a:t>
            </a:r>
          </a:p>
          <a:p xmlns:a="http://schemas.openxmlformats.org/drawingml/2006/main">
            <a:r>
              <a:t>- `per_hop_counterfactual.csv` SHA-256: `930c1ca3cc414558d044a0f3a9bab4e49830bcc2e6e3da9ec1725b59bd68f715`.</a:t>
            </a:r>
          </a:p>
          <a:p xmlns:a="http://schemas.openxmlformats.org/drawingml/2006/main">
            <a:r>
              <a:t>- The source completed on 2026-08-26; its scheduler identifier is retained only in the dated verification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/Users/924254653/mcd_failure_eval_full2_20260826/output/full-eval2-20260826/merged/</a:t>
            </a:r>
          </a:p>
          <a:p xmlns:a="http://schemas.openxmlformats.org/drawingml/2006/main">
            <a:r>
              <a:t>- docs/diagnostics/mcd_long_term_regret.md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Minimum-hold constraints remain active.</a:t>
            </a:r>
          </a:p>
          <a:p xmlns:a="http://schemas.openxmlformats.org/drawingml/2006/main">
            <a:r>
              <a:t>- The width-8 repeated path is retained and pruned, not globally optimal.</a:t>
            </a:r>
          </a:p>
          <a:p xmlns:a="http://schemas.openxmlformats.org/drawingml/2006/main">
            <a:r>
              <a:t>- Source: `docs/diagnostics/mcd_long_term_regret.md` and `configs/evaluation/mcd_repeated_correction_beam_full_v1.json`.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configs/evaluation/mcd_repeated_correction_beam_full_v1.json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Every seed produced 533 task summaries and passed factual parity in all 533 tasks.</a:t>
            </a:r>
          </a:p>
          <a:p xmlns:a="http://schemas.openxmlformats.org/drawingml/2006/main">
            <a:r>
              <a:t>- Seed 1 completed on 2026-08-31; seeds 0 and 2 completed on 2026-09-01.</a:t>
            </a:r>
          </a:p>
          <a:p xmlns:a="http://schemas.openxmlformats.org/drawingml/2006/main">
            <a:r>
              <a:t>- Each matching v2 aggregate completed successfully and used the same comparison tolerance and aggregation rule.</a:t>
            </a:r>
          </a:p>
          <a:p xmlns:a="http://schemas.openxmlformats.org/drawingml/2006/main">
            <a:r>
              <a:t>- Exact scheduler identifiers, runtimes, paths, and artifact hashes are retained in the dated verification record and `docs/diagnostics/mcd_long_term_regret.md`.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docs/presentations/2026-09-02_research_update_materials/2026-09-02_PPT_MATERIALS.md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Positive immediate regret means a legal GT-ranked action had lower immediate error than factual PPO at the anchor.</a:t>
            </a:r>
          </a:p>
          <a:p xmlns:a="http://schemas.openxmlformats.org/drawingml/2006/main">
            <a:r>
              <a:t>- Best saved single is retrospective: it selects the lowest H15 MAE among saved genuine one-time deviations anywhere from X through X+14 with complete coverage.</a:t>
            </a:r>
          </a:p>
          <a:p xmlns:a="http://schemas.openxmlformats.org/drawingml/2006/main">
            <a:r>
              <a:t>- Seed-specific intervals and raw counts are recorded in `docs/diagnostics/mcd_long_term_regret.md`.</a:t>
            </a:r>
          </a:p>
          <a:p xmlns:a="http://schemas.openxmlformats.org/drawingml/2006/main">
            <a:r>
              <a:t>- Seed means and ranges are descriptive; eligible anchors are seed-specific and not 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repeated path contains at least two real legal deviations from PPO.</a:t>
            </a:r>
          </a:p>
          <a:p xmlns:a="http://schemas.openxmlformats.org/drawingml/2006/main">
            <a:r>
              <a:t>- It uses GT offline and a retained width-8 beam. It is neither deployable nor globally optimal.</a:t>
            </a:r>
          </a:p>
          <a:p xmlns:a="http://schemas.openxmlformats.org/drawingml/2006/main">
            <a:r>
              <a:t>- Aggregation: anchor mean within clip, equal clips within subject, equal subjects within seed, 10,000 subject-bootstrap draws.</a:t>
            </a:r>
          </a:p>
          <a:p xmlns:a="http://schemas.openxmlformats.org/drawingml/2006/main">
            <a:r>
              <a:t>- Source: `docs/diagnostics/mcd_long_term_regret.md` and the three remote v2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/Users/924254653/mcd_repeated_beam_full_seed0_analysis_48705_v1/</a:t>
            </a:r>
          </a:p>
          <a:p xmlns:a="http://schemas.openxmlformats.org/drawingml/2006/main">
            <a:r>
              <a:t>- /Users/924254653/mcd_repeated_beam_full_seed1_analysis_48580_v1/</a:t>
            </a:r>
          </a:p>
          <a:p xmlns:a="http://schemas.openxmlformats.org/drawingml/2006/main">
            <a:r>
              <a:t>- /Users/924254653/mcd_repeated_beam_full_seed2_analysis_48706_v1/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full source contains 91,227 clip-hops. Partial recovery and complete recovery with no valid ROI are reported separately and excluded from this denominator.</a:t>
            </a:r>
          </a:p>
          <a:p xmlns:a="http://schemas.openxmlformats.org/drawingml/2006/main">
            <a:r>
              <a:t>- Combined recovery uses three seeds to recover stored executed-action measurements. It is not an ensemble.</a:t>
            </a:r>
          </a:p>
          <a:p xmlns:a="http://schemas.openxmlformats.org/drawingml/2006/main">
            <a:r>
              <a:t>- Source: `docs/diagnostics/mcd_pos_extreme_range.md` and evidence-registry entry E-032.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docs/diagnostics/mcd_pos_extreme_range.md</a:t>
            </a:r>
          </a:p>
          <a:p xmlns:a="http://schemas.openxmlformats.org/drawingml/2006/main">
            <a:r>
              <a:t>- docs/evidence_registry.md, E-032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Counts are clip-hops, not subject-weighted prevalence.</a:t>
            </a:r>
          </a:p>
          <a:p xmlns:a="http://schemas.openxmlformats.org/drawingml/2006/main">
            <a:r>
              <a:t>- The maxima are rare extremes; use the median and P90 to describe the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docs/diagnostics/artifacts/mcd_pos_extreme_range/extreme_range_miss_distributions.svg</a:t>
            </a:r>
          </a:p>
          <a:p xmlns:a="http://schemas.openxmlformats.org/drawingml/2006/main">
            <a:r>
              <a:t>- docs/diagnostics/artifacts/mcd_pos_extreme_range/extreme_range_miss_statistics.csv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regret diagnostic compares factual PPO with saved GT-informed alternatives under the same frozen controller and asks whether different selections could reduce error.</a:t>
            </a:r>
          </a:p>
          <a:p xmlns:a="http://schemas.openxmlformats.org/drawingml/2006/main">
            <a:r>
              <a:t>- The POS range diagnostic asks a narrower numerical question: whether GT lies between the lowest and highest recovered valid ROI estimates.</a:t>
            </a:r>
          </a:p>
          <a:p xmlns:a="http://schemas.openxmlformats.org/drawingml/2006/main">
            <a:r>
              <a:t>- An outside-range POS case cannot be repaired by choosing among those recovered estimates alone, but this does not prove that POS caused every PPO error.</a:t>
            </a:r>
          </a:p>
          <a:p xmlns:a="http://schemas.openxmlformats.org/drawingml/2006/main">
            <a:r>
              <a:t>- Source: `docs/diagnostics/mcd_long_term_regret.md` and `docs/diagnostics/mcd_pos_extreme_range.md`.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docs/diagnostics/mcd_pos_extreme_range.md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full-cohort result package now contains one producer run and one matching v2 aggregate for each Advantage PPO seed.</a:t>
            </a:r>
          </a:p>
          <a:p xmlns:a="http://schemas.openxmlformats.org/drawingml/2006/main">
            <a:r>
              <a:t>- The four-case visual audit stopped at replay validation, so it contributes no case-level explanation to this update.</a:t>
            </a:r>
          </a:p>
          <a:p xmlns:a="http://schemas.openxmlformats.org/drawingml/2006/main">
            <a:r>
              <a:t>- The next comparison should be selected only if it changes the research decision; no new baseline result is claimed here.</a:t>
            </a:r>
          </a:p>
          <a:p xmlns:a="http://schemas.openxmlformats.org/drawingml/2006/main">
            <a:r>
              <a:t>- Source: `docs/diagnostics/mcd_long_term_regret.md`, `docs/diagnostics/mcd_pos_extreme_range.md`, and `docs/evidence_registry.md`.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docs/diagnostics/mcd_pos_extreme_range.md</a:t>
            </a:r>
          </a:p>
          <a:p xmlns:a="http://schemas.openxmlformats.org/drawingml/2006/main">
            <a:r>
              <a:t>- docs/evidence_registry.md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All three seeds show the same broad pattern: frequent immediate action-selection headroom, larger retrospective 15-hop headroom, and changed later PPO proposals after some corrections.</a:t>
            </a:r>
          </a:p>
          <a:p xmlns:a="http://schemas.openxmlformats.org/drawingml/2006/main">
            <a:r>
              <a:t>- The separate POS result shows that 8.33% of usable complete-recovery clip-hops had GT outside the recovered ROI estimate range, with 6,159 of 6,779 outside-range cases above the highest estimate.</a:t>
            </a:r>
          </a:p>
          <a:p xmlns:a="http://schemas.openxmlformats.org/drawingml/2006/main">
            <a:r>
              <a:t>- The decision is whether to test the controller against a simpler matched selector next or first repair the case replay needed for human-level examples.</a:t>
            </a:r>
          </a:p>
          <a:p xmlns:a="http://schemas.openxmlformats.org/drawingml/2006/main">
            <a:r>
              <a:t>- Source: `docs/diagnostics/mcd_long_term_regret.md`, `docs/diagnostics/mcd_pos_extreme_range.md`, and the pinned numerical evidence at the top of this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docs/diagnostics/mcd_long_term_regret.md</a:t>
            </a:r>
          </a:p>
          <a:p xmlns:a="http://schemas.openxmlformats.org/drawingml/2006/main">
            <a:r>
              <a:t>- docs/diagnostics/mcd_pos_extreme_range.md</a:t>
            </a:r>
          </a:p>
          <a:p xmlns:a="http://schemas.openxmlformats.org/drawingml/2006/main">
            <a:r>
              <a:t>- docs/presentations/2026-09-02_research_update_materials/2026-09-02_PPT_MATERIALS.md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0cd6c9229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9843513e44748" /><Relationship Type="http://schemas.openxmlformats.org/officeDocument/2006/relationships/slideLayout" Target="/ppt/slideLayouts/slideLayout1.xml" Id="Rddb22bc8736a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22bc8736a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3fbc50c1c4c9f" /><Relationship Type="http://schemas.openxmlformats.org/officeDocument/2006/relationships/notesSlide" Target="/ppt/notesSlides/notesSlide1.xml" Id="R48218a12c46544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fe6e94b8d46f9" /><Relationship Type="http://schemas.openxmlformats.org/officeDocument/2006/relationships/notesSlide" Target="/ppt/notesSlides/notesSlide2.xml" Id="R387bfd515668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47bdce5d54378" /><Relationship Type="http://schemas.openxmlformats.org/officeDocument/2006/relationships/notesSlide" Target="/ppt/notesSlides/notesSlide3.xml" Id="R30d62c2f773243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831fb49664b9d" /><Relationship Type="http://schemas.openxmlformats.org/officeDocument/2006/relationships/notesSlide" Target="/ppt/notesSlides/notesSlide4.xml" Id="Re121884a1e9d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db4c1bc6409d" /><Relationship Type="http://schemas.openxmlformats.org/officeDocument/2006/relationships/notesSlide" Target="/ppt/notesSlides/notesSlide5.xml" Id="Ra2fd25ad5c15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46e7174874a1c" /><Relationship Type="http://schemas.openxmlformats.org/officeDocument/2006/relationships/notesSlide" Target="/ppt/notesSlides/notesSlide6.xml" Id="R52316bc207224a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3cbb9832a49c0" /><Relationship Type="http://schemas.openxmlformats.org/officeDocument/2006/relationships/notesSlide" Target="/ppt/notesSlides/notesSlide7.xml" Id="Ref3f11fefdb649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18527b4d47eb" /><Relationship Type="http://schemas.openxmlformats.org/officeDocument/2006/relationships/notesSlide" Target="/ppt/notesSlides/notesSlide8.xml" Id="R0489a038236d44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79af5f704b1d" /><Relationship Type="http://schemas.openxmlformats.org/officeDocument/2006/relationships/notesSlide" Target="/ppt/notesSlides/notesSlide9.xml" Id="R9a7bc76a21b94e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21833f38849d1" /><Relationship Type="http://schemas.openxmlformats.org/officeDocument/2006/relationships/image" Target="/ppt/media/image.png" Id="R942cc82a32044ab2" /><Relationship Type="http://schemas.openxmlformats.org/officeDocument/2006/relationships/notesSlide" Target="/ppt/notesSlides/notesSlide10.xml" Id="Rcba8aa1e75044c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eabb9f3114a01" /><Relationship Type="http://schemas.openxmlformats.org/officeDocument/2006/relationships/notesSlide" Target="/ppt/notesSlides/notesSlide11.xml" Id="Refb5bcac25b845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5299078b64f58" /><Relationship Type="http://schemas.openxmlformats.org/officeDocument/2006/relationships/notesSlide" Target="/ppt/notesSlides/notesSlide12.xml" Id="R97c9897111e34d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13fc1cf747ef" /><Relationship Type="http://schemas.openxmlformats.org/officeDocument/2006/relationships/notesSlide" Target="/ppt/notesSlides/notesSlide13.xml" Id="Rebad79a3a0b0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51BE2-BBA4-45D6-BDED-7C5D23C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53DC-BA8F-4CFE-AA21-56FF67EB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8500FE-11A0-481E-A6EE-2FFDA354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9182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2355B"/>
                </a:solidFill>
              </a:defRPr>
            </a:pPr>
            <a:r>
              <a:rPr sz="4800" b="1">
                <a:solidFill>
                  <a:srgbClr val="12355B"/>
                </a:solidFill>
              </a:rPr>
              <a:t>Adaptive Facial ROI Selection:</a:t>
            </a:r>
          </a:p>
          <a:p xmlns:a="http://schemas.openxmlformats.org/drawingml/2006/main">
            <a:pPr algn="ctr">
              <a:defRPr sz="4800" b="1">
                <a:solidFill>
                  <a:srgbClr val="12355B"/>
                </a:solidFill>
              </a:defRPr>
            </a:pPr>
            <a:r>
              <a:rPr sz="4800" b="1">
                <a:solidFill>
                  <a:srgbClr val="12355B"/>
                </a:solidFill>
              </a:rPr>
              <a:t>Full-Cohort Diagnostics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A1B31C-5F2E-445E-A013-9F296E45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86581"/>
                </a:solidFill>
              </a:defRPr>
            </a:pPr>
            <a:r>
              <a:rPr sz="2250" b="0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1AFD3A-B181-4BDF-A862-4301AE0F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672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A43"/>
                </a:solidFill>
              </a:defRPr>
            </a:pPr>
            <a:r>
              <a:rPr sz="1950" b="0">
                <a:solidFill>
                  <a:srgbClr val="102A43"/>
                </a:solidFill>
              </a:rPr>
              <a:t>September 2, 2026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4F929D5-E29F-4BCF-B136-8FE3E909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A43"/>
                </a:solidFill>
              </a:defRPr>
            </a:pPr>
            <a:r>
              <a:rPr sz="1950" b="0">
                <a:solidFill>
                  <a:srgbClr val="102A43"/>
                </a:solidFill>
              </a:rPr>
              <a:t>Atharva Walawalkar</a:t>
            </a:r>
          </a:p>
        </p:txBody>
      </p:sp>
    </p:spTree>
    <p:extLst>
      <p:ext uri="{BB962C8B-B14F-4D97-AF65-F5344CB8AC3E}">
        <p14:creationId xmlns:p14="http://schemas.microsoft.com/office/powerpoint/2010/main" val="482870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">
            <a:extLst xmlns:a="http://schemas.openxmlformats.org/drawingml/2006/main">
              <a:ext uri="{FF2B5EF4-FFF2-40B4-BE49-F238E27FC236}">
                <a16:creationId xmlns:a16="http://schemas.microsoft.com/office/drawing/2014/main" id="{8FA59E56-9A52-4AFD-A5FE-89585D7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05DC19A7-1357-4D43-8435-77AD555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6F629A-53B7-4D1F-81B1-F36537D8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0AE913-279B-4EB7-A099-46B3AB3C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Terms and questions for this update</a:t>
            </a:r>
          </a:p>
        </p:txBody>
      </p:sp>
      <p:sp>
        <p:nvSpPr>
          <p:cNvPr id="5" name="definitions">
            <a:extLst xmlns:a="http://schemas.openxmlformats.org/drawingml/2006/main">
              <a:ext uri="{FF2B5EF4-FFF2-40B4-BE49-F238E27FC236}">
                <a16:creationId xmlns:a16="http://schemas.microsoft.com/office/drawing/2014/main" id="{9723C701-191A-41C3-9DF1-0397C685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23311A7E-BC95-4AC9-AAF8-14A61F95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267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4B14610-0271-4F1C-8E47-E96E8FB7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Definitions</a:t>
            </a:r>
          </a:p>
        </p:txBody>
      </p:sp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965234B1-FB46-4CE1-AD99-C8878DE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743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Remote photoplethysmography (rPPG): estimating heart rate from facial video.</a:t>
            </a:r>
          </a:p>
        </p:txBody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6973475C-9779-4B66-B8A8-CD0B61BD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MCD: the evaluation dataset used for every result in this deck; the retained cohort contains 533 clips from 89 subjects.</a:t>
            </a:r>
          </a:p>
        </p:txBody>
      </p:sp>
      <p:sp>
        <p:nvSpPr>
          <p:cNvPr id="10" name="definition">
            <a:extLst xmlns:a="http://schemas.openxmlformats.org/drawingml/2006/main">
              <a:ext uri="{FF2B5EF4-FFF2-40B4-BE49-F238E27FC236}">
                <a16:creationId xmlns:a16="http://schemas.microsoft.com/office/drawing/2014/main" id="{CCE50B49-C2AC-4D59-B6A3-8F29DF4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74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Ground truth (GT): the reference heart rate used only for evaluation and offline diagnostics.</a:t>
            </a:r>
          </a:p>
        </p:txBody>
      </p:sp>
      <p:sp>
        <p:nvSpPr>
          <p:cNvPr id="11" name="definition">
            <a:extLst xmlns:a="http://schemas.openxmlformats.org/drawingml/2006/main">
              <a:ext uri="{FF2B5EF4-FFF2-40B4-BE49-F238E27FC236}">
                <a16:creationId xmlns:a16="http://schemas.microsoft.com/office/drawing/2014/main" id="{65759339-DA60-454F-8F27-087D4A5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764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Region of interest (ROI): one facial area used to measure the pulse signal.</a:t>
            </a:r>
          </a:p>
        </p:txBody>
      </p:sp>
      <p:sp>
        <p:nvSpPr>
          <p:cNvPr id="12" name="definition">
            <a:extLst xmlns:a="http://schemas.openxmlformats.org/drawingml/2006/main">
              <a:ext uri="{FF2B5EF4-FFF2-40B4-BE49-F238E27FC236}">
                <a16:creationId xmlns:a16="http://schemas.microsoft.com/office/drawing/2014/main" id="{9A4B66CE-3154-4918-94E3-7156FCC6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7660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Plane-Orthogonal-to-Skin (POS): the signal-processing method that converts color changes into a heart-rate estimate.</a:t>
            </a:r>
          </a:p>
        </p:txBody>
      </p:sp>
      <p:sp>
        <p:nvSpPr>
          <p:cNvPr id="13" name="definition">
            <a:extLst xmlns:a="http://schemas.openxmlformats.org/drawingml/2006/main">
              <a:ext uri="{FF2B5EF4-FFF2-40B4-BE49-F238E27FC236}">
                <a16:creationId xmlns:a16="http://schemas.microsoft.com/office/drawing/2014/main" id="{7985E90D-3C2F-435C-A4DE-AE97C0C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91050"/>
            <a:ext cx="2705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• Hop: one controller decision point. H15 is the mean absolute error across the next 15 hops.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D64ED7-5474-4D6B-818D-308CDD7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Questions</a:t>
            </a:r>
          </a:p>
        </p:txBody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BCDC716B-DD07-4B81-B7DD-6E05DE6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Was a better ROI action available at the same state?</a:t>
            </a:r>
          </a:p>
        </p:txBody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A4D3D7B0-1C78-4443-A21D-42DF9C0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Did one changed action affect later decisions across the next 15 hops?</a:t>
            </a:r>
          </a:p>
        </p:txBody>
      </p:sp>
      <p:sp>
        <p:nvSpPr>
          <p:cNvPr id="17" name="bullet">
            <a:extLst xmlns:a="http://schemas.openxmlformats.org/drawingml/2006/main">
              <a:ext uri="{FF2B5EF4-FFF2-40B4-BE49-F238E27FC236}">
                <a16:creationId xmlns:a16="http://schemas.microsoft.com/office/drawing/2014/main" id="{411AA208-DD31-4E99-B460-912DD80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81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Was GT outside every recovered ROI estimate?</a:t>
            </a:r>
          </a:p>
        </p:txBody>
      </p:sp>
      <p:sp>
        <p:nvSpPr>
          <p:cNvPr id="18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E1CD5DB8-C25E-43D9-BEBF-B3980C6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421B4A15-45F4-4973-A78A-92B628D6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This update separates controller-selection headroom from cases where the POS estimates themselves do not bracket GT.</a:t>
            </a:r>
          </a:p>
        </p:txBody>
      </p:sp>
    </p:spTree>
    <p:extLst>
      <p:ext uri="{BB962C8B-B14F-4D97-AF65-F5344CB8AC3E}">
        <p14:creationId xmlns:p14="http://schemas.microsoft.com/office/powerpoint/2010/main" val="734648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">
            <a:extLst xmlns:a="http://schemas.openxmlformats.org/drawingml/2006/main">
              <a:ext uri="{FF2B5EF4-FFF2-40B4-BE49-F238E27FC236}">
                <a16:creationId xmlns:a16="http://schemas.microsoft.com/office/drawing/2014/main" id="{972AE779-5045-4438-AAA6-9F11538A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D777B0E4-A312-47E1-B2FB-D80072D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0B79499-4D16-44D2-9DDB-1838AB5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EA7352-C003-4DC7-924F-8DE2BD9C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Starting point, the frozen MCD benchmark</a:t>
            </a:r>
          </a:p>
        </p:txBody>
      </p:sp>
      <p:sp>
        <p:nvSpPr>
          <p:cNvPr id="5" name="table-cell">
            <a:extLst xmlns:a="http://schemas.openxmlformats.org/drawingml/2006/main">
              <a:ext uri="{FF2B5EF4-FFF2-40B4-BE49-F238E27FC236}">
                <a16:creationId xmlns:a16="http://schemas.microsoft.com/office/drawing/2014/main" id="{4ACAEC29-D763-4B2D-AD67-5402AF7B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DA56D9B-381E-4939-8288-9F2F620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14500"/>
            <a:ext cx="687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table-cell">
            <a:extLst xmlns:a="http://schemas.openxmlformats.org/drawingml/2006/main">
              <a:ext uri="{FF2B5EF4-FFF2-40B4-BE49-F238E27FC236}">
                <a16:creationId xmlns:a16="http://schemas.microsoft.com/office/drawing/2014/main" id="{25793740-E167-4B32-A954-C1F8724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BAADC88-5156-448C-A293-42D18D0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Equal-clip MAE (BPM)</a:t>
            </a:r>
          </a:p>
        </p:txBody>
      </p:sp>
      <p:sp>
        <p:nvSpPr>
          <p:cNvPr id="9" name="table-cell">
            <a:extLst xmlns:a="http://schemas.openxmlformats.org/drawingml/2006/main">
              <a:ext uri="{FF2B5EF4-FFF2-40B4-BE49-F238E27FC236}">
                <a16:creationId xmlns:a16="http://schemas.microsoft.com/office/drawing/2014/main" id="{2E99DBE5-4D0A-49B1-8FF6-58306119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7048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162EEDF-C079-4BD0-B8A2-6EBE586F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57425"/>
            <a:ext cx="6877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Fixed full-face POS</a:t>
            </a:r>
          </a:p>
        </p:txBody>
      </p:sp>
      <p:sp>
        <p:nvSpPr>
          <p:cNvPr id="11" name="table-cell">
            <a:extLst xmlns:a="http://schemas.openxmlformats.org/drawingml/2006/main">
              <a:ext uri="{FF2B5EF4-FFF2-40B4-BE49-F238E27FC236}">
                <a16:creationId xmlns:a16="http://schemas.microsoft.com/office/drawing/2014/main" id="{D2F2C7ED-908D-404D-ACFE-87D40B8B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743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495DDEF-DB7F-4AA1-8AC8-B7BD97DF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57425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12.6317</a:t>
            </a:r>
          </a:p>
        </p:txBody>
      </p:sp>
      <p:sp>
        <p:nvSpPr>
          <p:cNvPr id="13" name="table-cell">
            <a:extLst xmlns:a="http://schemas.openxmlformats.org/drawingml/2006/main">
              <a:ext uri="{FF2B5EF4-FFF2-40B4-BE49-F238E27FC236}">
                <a16:creationId xmlns:a16="http://schemas.microsoft.com/office/drawing/2014/main" id="{A086A9D7-DE69-4B48-909F-703DD935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7048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AA7372C-0A00-47EB-8DD7-1F943A76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33700"/>
            <a:ext cx="6877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Dataset Aggregation (DAgger), three-seed mean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845E0A4A-C515-465D-A8CE-C56133A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67025"/>
            <a:ext cx="2743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0427D209-546A-45CA-B976-CFFBA60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3370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8.4716</a:t>
            </a:r>
          </a:p>
        </p:txBody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AA854BBA-9553-48E0-8DE5-4C87761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7048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A9CD7A92-6D13-43B1-8625-97AEB474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09975"/>
            <a:ext cx="6877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Standard Proximal Policy Optimization (PPO), three-seed mean</a:t>
            </a:r>
          </a:p>
        </p:txBody>
      </p:sp>
      <p:sp>
        <p:nvSpPr>
          <p:cNvPr id="19" name="table-cell">
            <a:extLst xmlns:a="http://schemas.openxmlformats.org/drawingml/2006/main">
              <a:ext uri="{FF2B5EF4-FFF2-40B4-BE49-F238E27FC236}">
                <a16:creationId xmlns:a16="http://schemas.microsoft.com/office/drawing/2014/main" id="{CD421242-2598-4500-A08C-A4AFB31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743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516EAC5-EA83-459C-8DF2-30FED63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9975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7.9913</a:t>
            </a:r>
          </a:p>
        </p:txBody>
      </p:sp>
      <p:sp>
        <p:nvSpPr>
          <p:cNvPr id="21" name="table-cell">
            <a:extLst xmlns:a="http://schemas.openxmlformats.org/drawingml/2006/main">
              <a:ext uri="{FF2B5EF4-FFF2-40B4-BE49-F238E27FC236}">
                <a16:creationId xmlns:a16="http://schemas.microsoft.com/office/drawing/2014/main" id="{1307610B-46C4-4EED-A6FC-6302DF04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7048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A6AA8D89-581D-4678-9340-373730C2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86250"/>
            <a:ext cx="6877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Advantage PPO, three-seed mean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E11BCC7C-411D-4568-95E3-7387061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9575"/>
            <a:ext cx="2743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5D7E6086-12E8-4C15-93D7-AFC67473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7.6232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BDC6CDB-BFF8-444D-8012-78CF8D1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86581"/>
                </a:solidFill>
              </a:defRPr>
            </a:pPr>
            <a:r>
              <a:rPr sz="1725" b="1">
                <a:solidFill>
                  <a:srgbClr val="486581"/>
                </a:solidFill>
              </a:rPr>
              <a:t>533 clips  •  89 subjects  •  91,227 hops per method</a:t>
            </a:r>
          </a:p>
        </p:txBody>
      </p:sp>
      <p:sp>
        <p:nvSpPr>
          <p:cNvPr id="26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B240DDB5-7F8E-4FCF-9801-25EDFF9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D5167323-E88E-48DF-9685-4AFCD7F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Advantage PPO scored below fixed full-face POS, but the benchmark alone did not explain the remaining failures.</a:t>
            </a:r>
          </a:p>
        </p:txBody>
      </p:sp>
    </p:spTree>
    <p:extLst>
      <p:ext uri="{BB962C8B-B14F-4D97-AF65-F5344CB8AC3E}">
        <p14:creationId xmlns:p14="http://schemas.microsoft.com/office/powerpoint/2010/main" val="192355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">
            <a:extLst xmlns:a="http://schemas.openxmlformats.org/drawingml/2006/main">
              <a:ext uri="{FF2B5EF4-FFF2-40B4-BE49-F238E27FC236}">
                <a16:creationId xmlns:a16="http://schemas.microsoft.com/office/drawing/2014/main" id="{D2AF38C6-B192-43BB-80DD-30DF8E1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B689836D-F7F3-4AFC-BCA1-0AD4C12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C75A74-7B82-41E8-B6E5-7A32E36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88AA64-9AF4-45CA-A925-78A52878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We built an all-action counterfactual source</a:t>
            </a:r>
          </a:p>
        </p:txBody>
      </p:sp>
      <p:sp>
        <p:nvSpPr>
          <p:cNvPr id="5" name="count-block">
            <a:extLst xmlns:a="http://schemas.openxmlformats.org/drawingml/2006/main">
              <a:ext uri="{FF2B5EF4-FFF2-40B4-BE49-F238E27FC236}">
                <a16:creationId xmlns:a16="http://schemas.microsoft.com/office/drawing/2014/main" id="{3B92D582-CCE8-480D-9F52-7016B0E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4767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6" name="count-text">
            <a:extLst xmlns:a="http://schemas.openxmlformats.org/drawingml/2006/main">
              <a:ext uri="{FF2B5EF4-FFF2-40B4-BE49-F238E27FC236}">
                <a16:creationId xmlns:a16="http://schemas.microsoft.com/office/drawing/2014/main" id="{E198CEA0-2B35-4593-A62B-3BBEE316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38100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Nine frozen learned models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533 evaluation clips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4,797 clip-model rows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801 subject-model rows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821,043 hop-model rows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97DF2C-54AE-4532-B535-0B12DC6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At the same state</a:t>
            </a:r>
          </a:p>
        </p:txBody>
      </p:sp>
      <p:sp>
        <p:nvSpPr>
          <p:cNvPr id="8" name="factual">
            <a:extLst xmlns:a="http://schemas.openxmlformats.org/drawingml/2006/main">
              <a:ext uri="{FF2B5EF4-FFF2-40B4-BE49-F238E27FC236}">
                <a16:creationId xmlns:a16="http://schemas.microsoft.com/office/drawing/2014/main" id="{2BC2D4D5-E641-4E2B-A284-9538B2A3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A2830F-3EA1-46AA-8232-6ED7011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Factual</a:t>
            </a:r>
          </a:p>
          <a:p xmlns:a="http://schemas.openxmlformats.org/drawingml/2006/main">
            <a:pPr algn="ctr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selection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DFCCED-5533-4702-AA78-5A82231B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6581"/>
                </a:solidFill>
              </a:defRPr>
            </a:pPr>
            <a:r>
              <a:rPr sz="1800" b="1">
                <a:solidFill>
                  <a:srgbClr val="486581"/>
                </a:solidFill>
              </a:rPr>
              <a:t>vs.</a:t>
            </a:r>
          </a:p>
        </p:txBody>
      </p:sp>
      <p:sp>
        <p:nvSpPr>
          <p:cNvPr id="11" name="alternatives">
            <a:extLst xmlns:a="http://schemas.openxmlformats.org/drawingml/2006/main">
              <a:ext uri="{FF2B5EF4-FFF2-40B4-BE49-F238E27FC236}">
                <a16:creationId xmlns:a16="http://schemas.microsoft.com/office/drawing/2014/main" id="{52D999C4-35B2-40D1-AC82-38AA00D7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1665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4CE585-8097-49A5-B353-49C0592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All legal</a:t>
            </a:r>
          </a:p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immediate ROI</a:t>
            </a:r>
          </a:p>
          <a:p xmlns:a="http://schemas.openxmlformats.org/drawingml/2006/main">
            <a:pPr algn="ctr">
              <a:defRPr sz="1725" b="1">
                <a:solidFill>
                  <a:srgbClr val="12355B"/>
                </a:solidFill>
              </a:defRPr>
            </a:pPr>
            <a:r>
              <a:rPr sz="1725" b="1">
                <a:solidFill>
                  <a:srgbClr val="12355B"/>
                </a:solidFill>
              </a:rPr>
              <a:t>alternatives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C58E81-9626-4B54-9B13-DF866B2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05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Every hop stores the factual selection and all legal immediate ROI alternatives</a:t>
            </a:r>
          </a:p>
        </p:txBody>
      </p:sp>
      <p:sp>
        <p:nvSpPr>
          <p:cNvPr id="14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787E9F21-3DBD-4FC1-B925-2B7C0E4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5B627E1C-D6B2-4970-999D-AFC5285A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This source lets us separate the ROI selected by the policy from the alternatives available at exactly the same state.</a:t>
            </a:r>
          </a:p>
        </p:txBody>
      </p:sp>
    </p:spTree>
    <p:extLst>
      <p:ext uri="{BB962C8B-B14F-4D97-AF65-F5344CB8AC3E}">
        <p14:creationId xmlns:p14="http://schemas.microsoft.com/office/powerpoint/2010/main" val="1184029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">
            <a:extLst xmlns:a="http://schemas.openxmlformats.org/drawingml/2006/main">
              <a:ext uri="{FF2B5EF4-FFF2-40B4-BE49-F238E27FC236}">
                <a16:creationId xmlns:a16="http://schemas.microsoft.com/office/drawing/2014/main" id="{0C387359-D250-45AD-857C-83637DA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A435F291-451D-4C2C-95EF-51D5FBF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DAA8E3-5DF8-407F-AC2A-2EBDC31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456D6-B86F-4F12-A15E-EE134B1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The 15-hop diagnostic changes one decision and follows the frozen policy</a:t>
            </a:r>
          </a:p>
        </p:txBody>
      </p:sp>
      <p:sp>
        <p:nvSpPr>
          <p:cNvPr id="5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368DE734-1A9F-4A32-AB88-92F54A17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33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step-header">
            <a:extLst xmlns:a="http://schemas.openxmlformats.org/drawingml/2006/main">
              <a:ext uri="{FF2B5EF4-FFF2-40B4-BE49-F238E27FC236}">
                <a16:creationId xmlns:a16="http://schemas.microsoft.com/office/drawing/2014/main" id="{4B398AA6-7AE9-469B-95E6-6508F43E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66C139-AC54-4EB3-9C44-8E3C6BA3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ep-text">
            <a:extLst xmlns:a="http://schemas.openxmlformats.org/drawingml/2006/main">
              <a:ext uri="{FF2B5EF4-FFF2-40B4-BE49-F238E27FC236}">
                <a16:creationId xmlns:a16="http://schemas.microsoft.com/office/drawing/2014/main" id="{94EF493F-8F9F-401E-82D0-00A1A442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Replay the factual PPO action.</a:t>
            </a:r>
          </a:p>
        </p:txBody>
      </p:sp>
      <p:sp>
        <p:nvSpPr>
          <p:cNvPr id="9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347190D9-7666-4BB6-9EA9-8F2B91B3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133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step-header">
            <a:extLst xmlns:a="http://schemas.openxmlformats.org/drawingml/2006/main">
              <a:ext uri="{FF2B5EF4-FFF2-40B4-BE49-F238E27FC236}">
                <a16:creationId xmlns:a16="http://schemas.microsoft.com/office/drawing/2014/main" id="{3E120FB7-AE01-4897-8D84-C85B41E3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C20713-BFA5-4F8A-9F80-24C3D9A7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764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step-text">
            <a:extLst xmlns:a="http://schemas.openxmlformats.org/drawingml/2006/main">
              <a:ext uri="{FF2B5EF4-FFF2-40B4-BE49-F238E27FC236}">
                <a16:creationId xmlns:a16="http://schemas.microsoft.com/office/drawing/2014/main" id="{1EF2DA97-7CD9-44BB-A36B-42A4A55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288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Force each of the 12 ROI actions once.</a:t>
            </a:r>
          </a:p>
        </p:txBody>
      </p:sp>
      <p:sp>
        <p:nvSpPr>
          <p:cNvPr id="13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CB2E12CC-364C-4B78-B174-4E405710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133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step-header">
            <a:extLst xmlns:a="http://schemas.openxmlformats.org/drawingml/2006/main">
              <a:ext uri="{FF2B5EF4-FFF2-40B4-BE49-F238E27FC236}">
                <a16:creationId xmlns:a16="http://schemas.microsoft.com/office/drawing/2014/main" id="{69494ACD-899B-41B1-AA88-440283A2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248FEE-5F94-4E8F-A5E4-1709A1B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764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-text">
            <a:extLst xmlns:a="http://schemas.openxmlformats.org/drawingml/2006/main">
              <a:ext uri="{FF2B5EF4-FFF2-40B4-BE49-F238E27FC236}">
                <a16:creationId xmlns:a16="http://schemas.microsoft.com/office/drawing/2014/main" id="{2C9E605C-BA82-47D1-8F30-A6F4076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Return control to the same frozen recurrent PPO policy.</a:t>
            </a:r>
          </a:p>
        </p:txBody>
      </p:sp>
      <p:sp>
        <p:nvSpPr>
          <p:cNvPr id="17" name="process-step">
            <a:extLst xmlns:a="http://schemas.openxmlformats.org/drawingml/2006/main">
              <a:ext uri="{FF2B5EF4-FFF2-40B4-BE49-F238E27FC236}">
                <a16:creationId xmlns:a16="http://schemas.microsoft.com/office/drawing/2014/main" id="{F97A95B4-FCB8-4348-A83D-749DCCE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2133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step-header">
            <a:extLst xmlns:a="http://schemas.openxmlformats.org/drawingml/2006/main">
              <a:ext uri="{FF2B5EF4-FFF2-40B4-BE49-F238E27FC236}">
                <a16:creationId xmlns:a16="http://schemas.microsoft.com/office/drawing/2014/main" id="{12000E5D-AF56-451F-8FCA-78D64E7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64203F-3272-4F6F-8A2B-8DDEB9ED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764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step-text">
            <a:extLst xmlns:a="http://schemas.openxmlformats.org/drawingml/2006/main">
              <a:ext uri="{FF2B5EF4-FFF2-40B4-BE49-F238E27FC236}">
                <a16:creationId xmlns:a16="http://schemas.microsoft.com/office/drawing/2014/main" id="{EB5BE1D4-54F8-4EA8-994C-5D44D5A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28875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Compare error over 1, 5, and 15 hops.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D469F3B-193E-49E9-A999-07760B7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65A6"/>
                </a:solidFill>
              </a:defRPr>
            </a:pPr>
            <a:r>
              <a:rPr sz="2250" b="1">
                <a:solidFill>
                  <a:srgbClr val="1665A6"/>
                </a:solidFill>
              </a:rPr>
              <a:t>→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573E7B7-6D44-49D7-A6C9-E2F09382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90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65A6"/>
                </a:solidFill>
              </a:defRPr>
            </a:pPr>
            <a:r>
              <a:rPr sz="2250" b="1">
                <a:solidFill>
                  <a:srgbClr val="1665A6"/>
                </a:solidFill>
              </a:rPr>
              <a:t>→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73CAE02-2E2F-414E-90A2-5C93F67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65A6"/>
                </a:solidFill>
              </a:defRPr>
            </a:pPr>
            <a:r>
              <a:rPr sz="2250" b="1">
                <a:solidFill>
                  <a:srgbClr val="1665A6"/>
                </a:solidFill>
              </a:rPr>
              <a:t>→</a:t>
            </a:r>
          </a:p>
        </p:txBody>
      </p:sp>
      <p:sp>
        <p:nvSpPr>
          <p:cNvPr id="24" name="secondary-arm">
            <a:extLst xmlns:a="http://schemas.openxmlformats.org/drawingml/2006/main">
              <a:ext uri="{FF2B5EF4-FFF2-40B4-BE49-F238E27FC236}">
                <a16:creationId xmlns:a16="http://schemas.microsoft.com/office/drawing/2014/main" id="{230C4869-CB4E-4C53-BCC5-89070845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8610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1665A6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92AA7E-3B58-4041-B3F5-14C6E60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Separate repeated-correction arm: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926233F-222B-47DB-806C-9706171C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006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Retain PPO and the best immediate GT-informed correction at each step.</a:t>
            </a:r>
          </a:p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Compare retained correction schedules over 15 hops.</a:t>
            </a:r>
          </a:p>
        </p:txBody>
      </p:sp>
      <p:sp>
        <p:nvSpPr>
          <p:cNvPr id="27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E9869A29-3538-4954-9A0D-B4F96C8B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095A12B7-8BDC-4D2A-B0FF-07305EC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diagnostic tests downstream consequences of changed actions; the alternatives use GT offline and are not deployable policies.</a:t>
            </a:r>
          </a:p>
        </p:txBody>
      </p:sp>
    </p:spTree>
    <p:extLst>
      <p:ext uri="{BB962C8B-B14F-4D97-AF65-F5344CB8AC3E}">
        <p14:creationId xmlns:p14="http://schemas.microsoft.com/office/powerpoint/2010/main" val="1064582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ule">
            <a:extLst xmlns:a="http://schemas.openxmlformats.org/drawingml/2006/main">
              <a:ext uri="{FF2B5EF4-FFF2-40B4-BE49-F238E27FC236}">
                <a16:creationId xmlns:a16="http://schemas.microsoft.com/office/drawing/2014/main" id="{FB3DA353-8A1F-4A5A-A401-2CCB076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D151932A-7505-4E14-BD8D-C9440F69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BC6CB5-277C-4667-A0EC-78C8C04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6B1083-9701-424F-A22D-7383DA26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We expanded from the worst 54 clips to the full MCD cohort</a:t>
            </a:r>
          </a:p>
        </p:txBody>
      </p:sp>
      <p:sp>
        <p:nvSpPr>
          <p:cNvPr id="5" name="table-cell">
            <a:extLst xmlns:a="http://schemas.openxmlformats.org/drawingml/2006/main">
              <a:ext uri="{FF2B5EF4-FFF2-40B4-BE49-F238E27FC236}">
                <a16:creationId xmlns:a16="http://schemas.microsoft.com/office/drawing/2014/main" id="{FBAAEEF4-6AAF-4185-B335-D63A8831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301B737-638E-4533-962E-FCB840AA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7" name="table-cell">
            <a:extLst xmlns:a="http://schemas.openxmlformats.org/drawingml/2006/main">
              <a:ext uri="{FF2B5EF4-FFF2-40B4-BE49-F238E27FC236}">
                <a16:creationId xmlns:a16="http://schemas.microsoft.com/office/drawing/2014/main" id="{4B95E8A0-232D-413C-ACC2-7E374D13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3248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E82DBD1-4210-4E8E-8F1D-396B8E4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76450"/>
            <a:ext cx="3076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Diagnostic stage</a:t>
            </a:r>
          </a:p>
        </p:txBody>
      </p:sp>
      <p:sp>
        <p:nvSpPr>
          <p:cNvPr id="9" name="table-cell">
            <a:extLst xmlns:a="http://schemas.openxmlformats.org/drawingml/2006/main">
              <a:ext uri="{FF2B5EF4-FFF2-40B4-BE49-F238E27FC236}">
                <a16:creationId xmlns:a16="http://schemas.microsoft.com/office/drawing/2014/main" id="{0ED03D73-4B59-47C4-AA9E-2A7701F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00250"/>
            <a:ext cx="5629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73D8E0E-9B7B-4233-9EC9-68F3EBB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5457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Verified status</a:t>
            </a:r>
          </a:p>
        </p:txBody>
      </p:sp>
      <p:sp>
        <p:nvSpPr>
          <p:cNvPr id="11" name="table-cell">
            <a:extLst xmlns:a="http://schemas.openxmlformats.org/drawingml/2006/main">
              <a:ext uri="{FF2B5EF4-FFF2-40B4-BE49-F238E27FC236}">
                <a16:creationId xmlns:a16="http://schemas.microsoft.com/office/drawing/2014/main" id="{862CD273-E685-4EA8-AFEF-5781B07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943100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3FD35C3-EF90-42A8-8BEC-A23F3D8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57475"/>
            <a:ext cx="1771650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Aug. 27-28</a:t>
            </a:r>
          </a:p>
        </p:txBody>
      </p:sp>
      <p:sp>
        <p:nvSpPr>
          <p:cNvPr id="13" name="table-cell">
            <a:extLst xmlns:a="http://schemas.openxmlformats.org/drawingml/2006/main">
              <a:ext uri="{FF2B5EF4-FFF2-40B4-BE49-F238E27FC236}">
                <a16:creationId xmlns:a16="http://schemas.microsoft.com/office/drawing/2014/main" id="{2612434B-5BB0-45E0-A7ED-2FC3EF1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90800"/>
            <a:ext cx="324802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30BA1C4-E4D8-4D73-AB8C-932FE46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57475"/>
            <a:ext cx="307657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Worst 54 clips, three seeds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85E0053D-B9CA-4166-99E0-ED5C433F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90800"/>
            <a:ext cx="562927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9AE8044-165D-4C52-B7B9-FE09A9AA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57475"/>
            <a:ext cx="54578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162 producer tasks complete; behavioral v1 tables remain provisional</a:t>
            </a:r>
          </a:p>
        </p:txBody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7E3FBCA5-4710-4525-B536-05F2780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9938"/>
            <a:ext cx="1943100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5034FA0-3861-4F26-9499-AC970D0A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76613"/>
            <a:ext cx="1771650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Aug. 31</a:t>
            </a:r>
          </a:p>
        </p:txBody>
      </p:sp>
      <p:sp>
        <p:nvSpPr>
          <p:cNvPr id="19" name="table-cell">
            <a:extLst xmlns:a="http://schemas.openxmlformats.org/drawingml/2006/main">
              <a:ext uri="{FF2B5EF4-FFF2-40B4-BE49-F238E27FC236}">
                <a16:creationId xmlns:a16="http://schemas.microsoft.com/office/drawing/2014/main" id="{5EA162B7-0DF3-4D17-AA3B-4FB3597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09938"/>
            <a:ext cx="324802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A693F60-7A93-478E-8E1C-7D1E726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76613"/>
            <a:ext cx="307657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Full 533 clips, seed 1</a:t>
            </a:r>
          </a:p>
        </p:txBody>
      </p:sp>
      <p:sp>
        <p:nvSpPr>
          <p:cNvPr id="21" name="table-cell">
            <a:extLst xmlns:a="http://schemas.openxmlformats.org/drawingml/2006/main">
              <a:ext uri="{FF2B5EF4-FFF2-40B4-BE49-F238E27FC236}">
                <a16:creationId xmlns:a16="http://schemas.microsoft.com/office/drawing/2014/main" id="{6ACE4368-494D-4D47-A4DF-78295EAC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09938"/>
            <a:ext cx="562927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18D82CD-AD6A-4B16-AEB7-F414FE13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6613"/>
            <a:ext cx="54578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533 tasks and v2 aggregate complete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2A4348C0-326F-43FE-8B19-8E10ABD1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943100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5BD30B0-0369-4097-A6E5-AFACF0B8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95750"/>
            <a:ext cx="1771650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Sept. 1</a:t>
            </a:r>
          </a:p>
        </p:txBody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30093058-5797-4413-9044-843D55D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29075"/>
            <a:ext cx="324802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436EE91-3697-47BA-962D-BD6CC7A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95750"/>
            <a:ext cx="307657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Full 533 clips, seed 0</a:t>
            </a:r>
          </a:p>
        </p:txBody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C6157AC6-1A01-4C0A-9121-ADAF49CA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29075"/>
            <a:ext cx="562927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CCCF058-1640-411A-A782-2EE6D065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54578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533 tasks and v2 aggregate complete</a:t>
            </a:r>
          </a:p>
        </p:txBody>
      </p:sp>
      <p:sp>
        <p:nvSpPr>
          <p:cNvPr id="29" name="table-cell">
            <a:extLst xmlns:a="http://schemas.openxmlformats.org/drawingml/2006/main">
              <a:ext uri="{FF2B5EF4-FFF2-40B4-BE49-F238E27FC236}">
                <a16:creationId xmlns:a16="http://schemas.microsoft.com/office/drawing/2014/main" id="{A95CCB64-8ED4-428B-96BA-2C71304C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8213"/>
            <a:ext cx="1943100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9D0B388-82F8-4B5C-B46E-C5FD52FE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4888"/>
            <a:ext cx="1771650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Sept. 1</a:t>
            </a:r>
          </a:p>
        </p:txBody>
      </p:sp>
      <p:sp>
        <p:nvSpPr>
          <p:cNvPr id="31" name="table-cell">
            <a:extLst xmlns:a="http://schemas.openxmlformats.org/drawingml/2006/main">
              <a:ext uri="{FF2B5EF4-FFF2-40B4-BE49-F238E27FC236}">
                <a16:creationId xmlns:a16="http://schemas.microsoft.com/office/drawing/2014/main" id="{8E8D3A14-49F4-4CD0-90DC-9772A6F2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48213"/>
            <a:ext cx="324802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A71CCBC-730B-4EBE-9CBC-AA289B6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4888"/>
            <a:ext cx="307657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Full 533 clips, seed 2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9843BC7F-3A51-4B1A-886A-E5EDBDC4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48213"/>
            <a:ext cx="5629275" cy="719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0F8B7B1-1676-4846-93EC-8CD62C7C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14888"/>
            <a:ext cx="5457825" cy="604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533 tasks and v2 aggregate complete</a:t>
            </a:r>
          </a:p>
        </p:txBody>
      </p:sp>
      <p:sp>
        <p:nvSpPr>
          <p:cNvPr id="35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FD7E3C51-3A6A-487C-B2CA-4E7C05F9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36" name="takeaway">
            <a:extLst xmlns:a="http://schemas.openxmlformats.org/drawingml/2006/main">
              <a:ext uri="{FF2B5EF4-FFF2-40B4-BE49-F238E27FC236}">
                <a16:creationId xmlns:a16="http://schemas.microsoft.com/office/drawing/2014/main" id="{E43CD416-5A60-458E-9059-F53D26D9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Full-cohort producer and aggregate coverage now exists for every Advantage PPO seed.</a:t>
            </a:r>
          </a:p>
        </p:txBody>
      </p:sp>
    </p:spTree>
    <p:extLst>
      <p:ext uri="{BB962C8B-B14F-4D97-AF65-F5344CB8AC3E}">
        <p14:creationId xmlns:p14="http://schemas.microsoft.com/office/powerpoint/2010/main" val="874543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op-rule">
            <a:extLst xmlns:a="http://schemas.openxmlformats.org/drawingml/2006/main">
              <a:ext uri="{FF2B5EF4-FFF2-40B4-BE49-F238E27FC236}">
                <a16:creationId xmlns:a16="http://schemas.microsoft.com/office/drawing/2014/main" id="{91210AE0-1ED0-4A34-BC4B-5556873A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22873B1D-105D-4FDD-AD71-F224EBC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4EF8F4-DC55-42B3-BDDD-CAC5BB1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05608A-E58E-4184-BE9C-6D0108B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One-time correction results across three seeds</a:t>
            </a:r>
          </a:p>
        </p:txBody>
      </p:sp>
      <p:sp>
        <p:nvSpPr>
          <p:cNvPr id="5" name="table-cell">
            <a:extLst xmlns:a="http://schemas.openxmlformats.org/drawingml/2006/main">
              <a:ext uri="{FF2B5EF4-FFF2-40B4-BE49-F238E27FC236}">
                <a16:creationId xmlns:a16="http://schemas.microsoft.com/office/drawing/2014/main" id="{9F54D2E1-AEE9-45E7-A588-D86055CA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32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AD08CAF-8267-47A0-9E5D-B6E3005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57325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Full-cohort subject-weighted result</a:t>
            </a:r>
          </a:p>
        </p:txBody>
      </p:sp>
      <p:sp>
        <p:nvSpPr>
          <p:cNvPr id="7" name="table-cell">
            <a:extLst xmlns:a="http://schemas.openxmlformats.org/drawingml/2006/main">
              <a:ext uri="{FF2B5EF4-FFF2-40B4-BE49-F238E27FC236}">
                <a16:creationId xmlns:a16="http://schemas.microsoft.com/office/drawing/2014/main" id="{1C083B02-05EB-4997-8D0E-0C6BA0C5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E262934-E500-4E98-8AC6-82544CD3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57325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Seed 0</a:t>
            </a:r>
          </a:p>
        </p:txBody>
      </p:sp>
      <p:sp>
        <p:nvSpPr>
          <p:cNvPr id="9" name="table-cell">
            <a:extLst xmlns:a="http://schemas.openxmlformats.org/drawingml/2006/main">
              <a:ext uri="{FF2B5EF4-FFF2-40B4-BE49-F238E27FC236}">
                <a16:creationId xmlns:a16="http://schemas.microsoft.com/office/drawing/2014/main" id="{DFCC527E-6D7A-4117-96D2-A5C66A7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81125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4F93A83-EC63-4ACD-B484-C106C001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57325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Seed 1</a:t>
            </a:r>
          </a:p>
        </p:txBody>
      </p:sp>
      <p:sp>
        <p:nvSpPr>
          <p:cNvPr id="11" name="table-cell">
            <a:extLst xmlns:a="http://schemas.openxmlformats.org/drawingml/2006/main">
              <a:ext uri="{FF2B5EF4-FFF2-40B4-BE49-F238E27FC236}">
                <a16:creationId xmlns:a16="http://schemas.microsoft.com/office/drawing/2014/main" id="{D0DEE41B-4B3E-4ADE-BA23-86BE186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2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B92554EC-9DE3-4450-A729-D1EE62E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457325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Seed 2</a:t>
            </a:r>
          </a:p>
        </p:txBody>
      </p:sp>
      <p:sp>
        <p:nvSpPr>
          <p:cNvPr id="13" name="table-cell">
            <a:extLst xmlns:a="http://schemas.openxmlformats.org/drawingml/2006/main">
              <a:ext uri="{FF2B5EF4-FFF2-40B4-BE49-F238E27FC236}">
                <a16:creationId xmlns:a16="http://schemas.microsoft.com/office/drawing/2014/main" id="{4F51257B-00B1-488A-BC0D-1B2CB7F4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81125"/>
            <a:ext cx="3295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B78C263-2E5C-4D25-B333-EF83FCE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57325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Seed mean [range]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43025584-0148-4176-B5A0-62D493C4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43243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F5E0703C-FC09-4B6F-81C2-A1F3EBF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33600"/>
            <a:ext cx="41529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Factual PPO H15 MAE (BPM)</a:t>
            </a:r>
          </a:p>
        </p:txBody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6F801DE9-A884-4B78-B929-67D8CCAE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6692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E5C4680D-AFC1-4F04-AAE1-71A16E1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3360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7.509</a:t>
            </a:r>
          </a:p>
        </p:txBody>
      </p:sp>
      <p:sp>
        <p:nvSpPr>
          <p:cNvPr id="19" name="table-cell">
            <a:extLst xmlns:a="http://schemas.openxmlformats.org/drawingml/2006/main">
              <a:ext uri="{FF2B5EF4-FFF2-40B4-BE49-F238E27FC236}">
                <a16:creationId xmlns:a16="http://schemas.microsoft.com/office/drawing/2014/main" id="{12EEA8A3-45C2-4571-BFD5-19EE7FF4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6692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0CF407D6-CEF4-46BD-B7A6-FB4BB61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7.355</a:t>
            </a:r>
          </a:p>
        </p:txBody>
      </p:sp>
      <p:sp>
        <p:nvSpPr>
          <p:cNvPr id="21" name="table-cell">
            <a:extLst xmlns:a="http://schemas.openxmlformats.org/drawingml/2006/main">
              <a:ext uri="{FF2B5EF4-FFF2-40B4-BE49-F238E27FC236}">
                <a16:creationId xmlns:a16="http://schemas.microsoft.com/office/drawing/2014/main" id="{1F1E10DC-D292-4DEC-806B-01F75982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6692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406F3A2-404D-4B7A-B629-2A90BB09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3360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7.583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8A4C6500-7A1E-49DD-89EA-556834F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66925"/>
            <a:ext cx="32956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720FEB2F-1C7D-4E0C-AAEC-5A63D73D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33600"/>
            <a:ext cx="31242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7.482 [7.355, 7.583]</a:t>
            </a:r>
          </a:p>
        </p:txBody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2E31F450-FC42-4F11-8DBC-96E02928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3205"/>
            <a:ext cx="43243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36BB1B7-9300-4448-A13B-7733204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49880"/>
            <a:ext cx="41529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Positive immediate regret</a:t>
            </a:r>
          </a:p>
        </p:txBody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A666EF6F-676D-4E3B-B182-A812EDB2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320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AAC3F0B8-7323-495D-89F0-C58D65B5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4988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64.88%</a:t>
            </a:r>
          </a:p>
        </p:txBody>
      </p:sp>
      <p:sp>
        <p:nvSpPr>
          <p:cNvPr id="29" name="table-cell">
            <a:extLst xmlns:a="http://schemas.openxmlformats.org/drawingml/2006/main">
              <a:ext uri="{FF2B5EF4-FFF2-40B4-BE49-F238E27FC236}">
                <a16:creationId xmlns:a16="http://schemas.microsoft.com/office/drawing/2014/main" id="{6173C177-7260-46C3-91B3-75829BE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320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CD9362D-8127-45C8-9788-6668C25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4988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66.66%</a:t>
            </a:r>
          </a:p>
        </p:txBody>
      </p:sp>
      <p:sp>
        <p:nvSpPr>
          <p:cNvPr id="31" name="table-cell">
            <a:extLst xmlns:a="http://schemas.openxmlformats.org/drawingml/2006/main">
              <a:ext uri="{FF2B5EF4-FFF2-40B4-BE49-F238E27FC236}">
                <a16:creationId xmlns:a16="http://schemas.microsoft.com/office/drawing/2014/main" id="{9C697BC4-6352-4FA2-B881-3A0A0C4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320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B4F86F3-EF74-4005-AA95-F0F9999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4988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67.12%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00B04ECD-AC4D-4F87-849B-82F13D89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3205"/>
            <a:ext cx="32956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65F20DF4-D16E-429E-9351-0C8A087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49880"/>
            <a:ext cx="31242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66.22% [64.88%, 67.12%]</a:t>
            </a:r>
          </a:p>
        </p:txBody>
      </p:sp>
      <p:sp>
        <p:nvSpPr>
          <p:cNvPr id="35" name="table-cell">
            <a:extLst xmlns:a="http://schemas.openxmlformats.org/drawingml/2006/main">
              <a:ext uri="{FF2B5EF4-FFF2-40B4-BE49-F238E27FC236}">
                <a16:creationId xmlns:a16="http://schemas.microsoft.com/office/drawing/2014/main" id="{A61DEECD-72EE-4D9A-9252-6171106C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9485"/>
            <a:ext cx="43243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8BF2F94-8D25-4360-96BC-9C71C3D5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66160"/>
            <a:ext cx="41529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Mean immediate regret (BPM)</a:t>
            </a:r>
          </a:p>
        </p:txBody>
      </p:sp>
      <p:sp>
        <p:nvSpPr>
          <p:cNvPr id="37" name="table-cell">
            <a:extLst xmlns:a="http://schemas.openxmlformats.org/drawingml/2006/main">
              <a:ext uri="{FF2B5EF4-FFF2-40B4-BE49-F238E27FC236}">
                <a16:creationId xmlns:a16="http://schemas.microsoft.com/office/drawing/2014/main" id="{B83DC03F-0136-4441-B131-291DCF5F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9948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E9E2B3E-DAC1-41C9-94FE-0BAAE73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6616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1.498</a:t>
            </a:r>
          </a:p>
        </p:txBody>
      </p:sp>
      <p:sp>
        <p:nvSpPr>
          <p:cNvPr id="39" name="table-cell">
            <a:extLst xmlns:a="http://schemas.openxmlformats.org/drawingml/2006/main">
              <a:ext uri="{FF2B5EF4-FFF2-40B4-BE49-F238E27FC236}">
                <a16:creationId xmlns:a16="http://schemas.microsoft.com/office/drawing/2014/main" id="{9CDD3561-0E4E-41A2-BF59-AC1E9B6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9948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753CCF8F-C459-4556-8E60-7FC521B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6616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1.509</a:t>
            </a:r>
          </a:p>
        </p:txBody>
      </p:sp>
      <p:sp>
        <p:nvSpPr>
          <p:cNvPr id="41" name="table-cell">
            <a:extLst xmlns:a="http://schemas.openxmlformats.org/drawingml/2006/main">
              <a:ext uri="{FF2B5EF4-FFF2-40B4-BE49-F238E27FC236}">
                <a16:creationId xmlns:a16="http://schemas.microsoft.com/office/drawing/2014/main" id="{BFEEB7C6-2A8E-48F4-B0C9-2D33D1F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9948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DAC43D9-7924-478A-9CD2-3BFB17FB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6616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1.604</a:t>
            </a:r>
          </a:p>
        </p:txBody>
      </p:sp>
      <p:sp>
        <p:nvSpPr>
          <p:cNvPr id="43" name="table-cell">
            <a:extLst xmlns:a="http://schemas.openxmlformats.org/drawingml/2006/main">
              <a:ext uri="{FF2B5EF4-FFF2-40B4-BE49-F238E27FC236}">
                <a16:creationId xmlns:a16="http://schemas.microsoft.com/office/drawing/2014/main" id="{538FEE6E-A07B-491A-A58C-3EC7AD3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99485"/>
            <a:ext cx="32956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77ACC90-B092-4287-8B6D-A94B207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66160"/>
            <a:ext cx="31242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1.537 [1.498, 1.604]</a:t>
            </a:r>
          </a:p>
        </p:txBody>
      </p:sp>
      <p:sp>
        <p:nvSpPr>
          <p:cNvPr id="45" name="table-cell">
            <a:extLst xmlns:a="http://schemas.openxmlformats.org/drawingml/2006/main">
              <a:ext uri="{FF2B5EF4-FFF2-40B4-BE49-F238E27FC236}">
                <a16:creationId xmlns:a16="http://schemas.microsoft.com/office/drawing/2014/main" id="{633E6FD5-BDD9-4A3A-B533-D1DB6538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5765"/>
            <a:ext cx="43243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E6B378CD-AD75-4392-833E-641B0BC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82440"/>
            <a:ext cx="41529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Best saved single beat factual H15</a:t>
            </a:r>
          </a:p>
        </p:txBody>
      </p:sp>
      <p:sp>
        <p:nvSpPr>
          <p:cNvPr id="47" name="table-cell">
            <a:extLst xmlns:a="http://schemas.openxmlformats.org/drawingml/2006/main">
              <a:ext uri="{FF2B5EF4-FFF2-40B4-BE49-F238E27FC236}">
                <a16:creationId xmlns:a16="http://schemas.microsoft.com/office/drawing/2014/main" id="{E5C85C11-39FF-4C56-974E-A799712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1576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0E7E8B85-2531-4330-B119-E81E777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8244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96.71%</a:t>
            </a:r>
          </a:p>
        </p:txBody>
      </p:sp>
      <p:sp>
        <p:nvSpPr>
          <p:cNvPr id="49" name="table-cell">
            <a:extLst xmlns:a="http://schemas.openxmlformats.org/drawingml/2006/main">
              <a:ext uri="{FF2B5EF4-FFF2-40B4-BE49-F238E27FC236}">
                <a16:creationId xmlns:a16="http://schemas.microsoft.com/office/drawing/2014/main" id="{DF0050EA-C165-4465-8988-F4813870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576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E5367538-B93A-47DA-AFB5-7E463DA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8244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96.68%</a:t>
            </a:r>
          </a:p>
        </p:txBody>
      </p:sp>
      <p:sp>
        <p:nvSpPr>
          <p:cNvPr id="51" name="table-cell">
            <a:extLst xmlns:a="http://schemas.openxmlformats.org/drawingml/2006/main">
              <a:ext uri="{FF2B5EF4-FFF2-40B4-BE49-F238E27FC236}">
                <a16:creationId xmlns:a16="http://schemas.microsoft.com/office/drawing/2014/main" id="{C91633AD-BF93-4871-8838-4A3E9AF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576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95ADC0C-AD33-43B1-972D-FB91CEE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8244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96.62%</a:t>
            </a:r>
          </a:p>
        </p:txBody>
      </p:sp>
      <p:sp>
        <p:nvSpPr>
          <p:cNvPr id="53" name="table-cell">
            <a:extLst xmlns:a="http://schemas.openxmlformats.org/drawingml/2006/main">
              <a:ext uri="{FF2B5EF4-FFF2-40B4-BE49-F238E27FC236}">
                <a16:creationId xmlns:a16="http://schemas.microsoft.com/office/drawing/2014/main" id="{8BC13057-EA65-4002-B7E6-3A466F73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5765"/>
            <a:ext cx="32956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0FD8025-454A-43D4-8A51-6E9DDA0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82440"/>
            <a:ext cx="31242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96.67% [96.62%, 96.71%]</a:t>
            </a:r>
          </a:p>
        </p:txBody>
      </p:sp>
      <p:sp>
        <p:nvSpPr>
          <p:cNvPr id="55" name="table-cell">
            <a:extLst xmlns:a="http://schemas.openxmlformats.org/drawingml/2006/main">
              <a:ext uri="{FF2B5EF4-FFF2-40B4-BE49-F238E27FC236}">
                <a16:creationId xmlns:a16="http://schemas.microsoft.com/office/drawing/2014/main" id="{E8EF4839-7403-40A5-B70D-E3166DC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2045"/>
            <a:ext cx="43243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EC84FB7-D213-4EC4-8236-D0C9A85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98720"/>
            <a:ext cx="41529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Best saved single H15 reduction (BPM)</a:t>
            </a:r>
          </a:p>
        </p:txBody>
      </p:sp>
      <p:sp>
        <p:nvSpPr>
          <p:cNvPr id="57" name="table-cell">
            <a:extLst xmlns:a="http://schemas.openxmlformats.org/drawingml/2006/main">
              <a:ext uri="{FF2B5EF4-FFF2-40B4-BE49-F238E27FC236}">
                <a16:creationId xmlns:a16="http://schemas.microsoft.com/office/drawing/2014/main" id="{4130C7F4-2EAF-4068-ACA9-B1725CC8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3204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7009713-1E59-4827-BBD2-A910A74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9872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2.113</a:t>
            </a:r>
          </a:p>
        </p:txBody>
      </p:sp>
      <p:sp>
        <p:nvSpPr>
          <p:cNvPr id="59" name="table-cell">
            <a:extLst xmlns:a="http://schemas.openxmlformats.org/drawingml/2006/main">
              <a:ext uri="{FF2B5EF4-FFF2-40B4-BE49-F238E27FC236}">
                <a16:creationId xmlns:a16="http://schemas.microsoft.com/office/drawing/2014/main" id="{C10526B9-8555-4FFC-B974-3430066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3204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5C47801-4449-43CB-831D-F39AAD02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9872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2.114</a:t>
            </a:r>
          </a:p>
        </p:txBody>
      </p:sp>
      <p:sp>
        <p:nvSpPr>
          <p:cNvPr id="61" name="table-cell">
            <a:extLst xmlns:a="http://schemas.openxmlformats.org/drawingml/2006/main">
              <a:ext uri="{FF2B5EF4-FFF2-40B4-BE49-F238E27FC236}">
                <a16:creationId xmlns:a16="http://schemas.microsoft.com/office/drawing/2014/main" id="{C6BE9AD2-E3D3-445C-A8C0-FF0E43F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2045"/>
            <a:ext cx="125730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0A772A02-3EB4-4BB5-A2CF-FF5342C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998720"/>
            <a:ext cx="108585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2.310</a:t>
            </a:r>
          </a:p>
        </p:txBody>
      </p:sp>
      <p:sp>
        <p:nvSpPr>
          <p:cNvPr id="63" name="table-cell">
            <a:extLst xmlns:a="http://schemas.openxmlformats.org/drawingml/2006/main">
              <a:ext uri="{FF2B5EF4-FFF2-40B4-BE49-F238E27FC236}">
                <a16:creationId xmlns:a16="http://schemas.microsoft.com/office/drawing/2014/main" id="{1E470081-81A8-4F40-A59F-3E2A7A6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2045"/>
            <a:ext cx="329565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B33411D-AAE7-45F3-8E32-90E202B8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998720"/>
            <a:ext cx="3124200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2.179 [2.113, 2.310]</a:t>
            </a:r>
          </a:p>
        </p:txBody>
      </p:sp>
      <p:sp>
        <p:nvSpPr>
          <p:cNvPr id="65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4D5C494F-825D-4E61-BD81-4852D37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66" name="takeaway">
            <a:extLst xmlns:a="http://schemas.openxmlformats.org/drawingml/2006/main">
              <a:ext uri="{FF2B5EF4-FFF2-40B4-BE49-F238E27FC236}">
                <a16:creationId xmlns:a16="http://schemas.microsoft.com/office/drawing/2014/main" id="{7971B1BF-07F5-4AD9-A972-1BBF014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Every seed shows immediate action-selection regret and substantial retrospective one-time correction headroom.</a:t>
            </a:r>
          </a:p>
        </p:txBody>
      </p:sp>
    </p:spTree>
    <p:extLst>
      <p:ext uri="{BB962C8B-B14F-4D97-AF65-F5344CB8AC3E}">
        <p14:creationId xmlns:p14="http://schemas.microsoft.com/office/powerpoint/2010/main" val="816603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ule">
            <a:extLst xmlns:a="http://schemas.openxmlformats.org/drawingml/2006/main">
              <a:ext uri="{FF2B5EF4-FFF2-40B4-BE49-F238E27FC236}">
                <a16:creationId xmlns:a16="http://schemas.microsoft.com/office/drawing/2014/main" id="{83AD1895-174C-4D89-A9AD-4DE4ACB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361F5228-6892-438F-8151-16BF3A7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D56716-E7C4-4F05-9C72-78BB09E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07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F3578B-239E-45FD-91C6-9FB4E74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Repeated-correction results across three seeds</a:t>
            </a:r>
          </a:p>
        </p:txBody>
      </p:sp>
      <p:sp>
        <p:nvSpPr>
          <p:cNvPr id="5" name="table-cell">
            <a:extLst xmlns:a="http://schemas.openxmlformats.org/drawingml/2006/main">
              <a:ext uri="{FF2B5EF4-FFF2-40B4-BE49-F238E27FC236}">
                <a16:creationId xmlns:a16="http://schemas.microsoft.com/office/drawing/2014/main" id="{786928CB-977F-4012-83B3-E73DF22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324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3D97CAB-31A4-44E4-8D76-C78E95B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4305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Full-cohort subject-weighted result</a:t>
            </a:r>
          </a:p>
        </p:txBody>
      </p:sp>
      <p:sp>
        <p:nvSpPr>
          <p:cNvPr id="7" name="table-cell">
            <a:extLst xmlns:a="http://schemas.openxmlformats.org/drawingml/2006/main">
              <a:ext uri="{FF2B5EF4-FFF2-40B4-BE49-F238E27FC236}">
                <a16:creationId xmlns:a16="http://schemas.microsoft.com/office/drawing/2014/main" id="{1E1B208E-099E-4835-B12C-1A20391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668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D1DE394-CECC-450D-8E13-BA32FCF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4305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Seed 0</a:t>
            </a:r>
          </a:p>
        </p:txBody>
      </p:sp>
      <p:sp>
        <p:nvSpPr>
          <p:cNvPr id="9" name="table-cell">
            <a:extLst xmlns:a="http://schemas.openxmlformats.org/drawingml/2006/main">
              <a:ext uri="{FF2B5EF4-FFF2-40B4-BE49-F238E27FC236}">
                <a16:creationId xmlns:a16="http://schemas.microsoft.com/office/drawing/2014/main" id="{00CF4D2A-5DBD-4061-8E29-53EB0E51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668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8F2272E-6A07-44EB-AB20-BB28DF6A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4305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Seed 1</a:t>
            </a:r>
          </a:p>
        </p:txBody>
      </p:sp>
      <p:sp>
        <p:nvSpPr>
          <p:cNvPr id="11" name="table-cell">
            <a:extLst xmlns:a="http://schemas.openxmlformats.org/drawingml/2006/main">
              <a:ext uri="{FF2B5EF4-FFF2-40B4-BE49-F238E27FC236}">
                <a16:creationId xmlns:a16="http://schemas.microsoft.com/office/drawing/2014/main" id="{8ECD10B3-F49B-4B34-BAAC-6CC01D8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2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FC2A886-CC8F-419B-8961-8171026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4305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Seed 2</a:t>
            </a:r>
          </a:p>
        </p:txBody>
      </p:sp>
      <p:sp>
        <p:nvSpPr>
          <p:cNvPr id="13" name="table-cell">
            <a:extLst xmlns:a="http://schemas.openxmlformats.org/drawingml/2006/main">
              <a:ext uri="{FF2B5EF4-FFF2-40B4-BE49-F238E27FC236}">
                <a16:creationId xmlns:a16="http://schemas.microsoft.com/office/drawing/2014/main" id="{BDC389FE-D8E9-4AC3-80F1-8BE1CAE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3295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C7893DA-35E1-43F8-8883-FA2C1A45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43050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Seed mean [range]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269D3A90-F24F-4D17-9AD0-D2CF5424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3884615-D171-4789-8C67-1C53B827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19325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Repeated path beat best saved single</a:t>
            </a:r>
          </a:p>
        </p:txBody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A7373B78-AC32-4419-B7F4-B038097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E5493FBB-EA34-426F-BB0D-BDF936C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93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92.24%</a:t>
            </a:r>
          </a:p>
        </p:txBody>
      </p:sp>
      <p:sp>
        <p:nvSpPr>
          <p:cNvPr id="19" name="table-cell">
            <a:extLst xmlns:a="http://schemas.openxmlformats.org/drawingml/2006/main">
              <a:ext uri="{FF2B5EF4-FFF2-40B4-BE49-F238E27FC236}">
                <a16:creationId xmlns:a16="http://schemas.microsoft.com/office/drawing/2014/main" id="{A89AC11E-8A42-41AF-A209-A22DA7B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8821DB7-FC9A-45E3-B76B-230AD41F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193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89.65%</a:t>
            </a:r>
          </a:p>
        </p:txBody>
      </p:sp>
      <p:sp>
        <p:nvSpPr>
          <p:cNvPr id="21" name="table-cell">
            <a:extLst xmlns:a="http://schemas.openxmlformats.org/drawingml/2006/main">
              <a:ext uri="{FF2B5EF4-FFF2-40B4-BE49-F238E27FC236}">
                <a16:creationId xmlns:a16="http://schemas.microsoft.com/office/drawing/2014/main" id="{2C64F983-391D-40B9-8C84-0D9F919F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A332B0CF-B82A-4A44-95AD-B24431EA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193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90.98%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304649B0-8C09-4818-80F1-BE65F0DC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3295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E486A58-3839-4B4F-9F9F-F6D0EC7C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1932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90.96% [89.65%, 92.24%]</a:t>
            </a:r>
          </a:p>
        </p:txBody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143F3950-601B-463A-ADD0-F1844EE7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BF40936-04E7-47DA-B13E-F11ADB8E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38475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Repeated H15 reduction vs factual (BPM)</a:t>
            </a:r>
          </a:p>
        </p:txBody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6991C992-AEDA-49B9-89A4-A5CB1A7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B04C0DE-E49E-470E-A93B-7A378E4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384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3.752</a:t>
            </a:r>
          </a:p>
        </p:txBody>
      </p:sp>
      <p:sp>
        <p:nvSpPr>
          <p:cNvPr id="29" name="table-cell">
            <a:extLst xmlns:a="http://schemas.openxmlformats.org/drawingml/2006/main">
              <a:ext uri="{FF2B5EF4-FFF2-40B4-BE49-F238E27FC236}">
                <a16:creationId xmlns:a16="http://schemas.microsoft.com/office/drawing/2014/main" id="{68A3F96F-1F6B-42E6-BE28-006646D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FDC3D9CD-3571-4A14-859F-5361ECE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384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3.592</a:t>
            </a:r>
          </a:p>
        </p:txBody>
      </p:sp>
      <p:sp>
        <p:nvSpPr>
          <p:cNvPr id="31" name="table-cell">
            <a:extLst xmlns:a="http://schemas.openxmlformats.org/drawingml/2006/main">
              <a:ext uri="{FF2B5EF4-FFF2-40B4-BE49-F238E27FC236}">
                <a16:creationId xmlns:a16="http://schemas.microsoft.com/office/drawing/2014/main" id="{A4A7FE4E-5BF0-4244-83C2-B0F86351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2FA7A2D-1973-4E31-8FE0-8F92621E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384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3.890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9B8EEF2E-C94F-4D84-B509-456FD40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295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8204F04-D9FB-4804-8542-A0E0EF8F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3847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3.745 [3.592, 3.890]</a:t>
            </a:r>
          </a:p>
        </p:txBody>
      </p:sp>
      <p:sp>
        <p:nvSpPr>
          <p:cNvPr id="35" name="table-cell">
            <a:extLst xmlns:a="http://schemas.openxmlformats.org/drawingml/2006/main">
              <a:ext uri="{FF2B5EF4-FFF2-40B4-BE49-F238E27FC236}">
                <a16:creationId xmlns:a16="http://schemas.microsoft.com/office/drawing/2014/main" id="{25D6C088-4168-4E8C-8BD5-D2AF773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F47FDABF-9EDC-4F22-B3D9-CF41D914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57625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Repeated reduction vs best single (BPM)</a:t>
            </a:r>
          </a:p>
        </p:txBody>
      </p:sp>
      <p:sp>
        <p:nvSpPr>
          <p:cNvPr id="37" name="table-cell">
            <a:extLst xmlns:a="http://schemas.openxmlformats.org/drawingml/2006/main">
              <a:ext uri="{FF2B5EF4-FFF2-40B4-BE49-F238E27FC236}">
                <a16:creationId xmlns:a16="http://schemas.microsoft.com/office/drawing/2014/main" id="{B87B3F2F-6AAA-409E-95DC-EA0CB311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0139685-1B04-4B85-AC1D-BAF5ACD3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1.555</a:t>
            </a:r>
          </a:p>
        </p:txBody>
      </p:sp>
      <p:sp>
        <p:nvSpPr>
          <p:cNvPr id="39" name="table-cell">
            <a:extLst xmlns:a="http://schemas.openxmlformats.org/drawingml/2006/main">
              <a:ext uri="{FF2B5EF4-FFF2-40B4-BE49-F238E27FC236}">
                <a16:creationId xmlns:a16="http://schemas.microsoft.com/office/drawing/2014/main" id="{CAFBA213-C661-4FA0-A2CD-70B147B7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C1AA95A-9E64-49CD-9BF5-3535A4D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576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1.443</a:t>
            </a:r>
          </a:p>
        </p:txBody>
      </p:sp>
      <p:sp>
        <p:nvSpPr>
          <p:cNvPr id="41" name="table-cell">
            <a:extLst xmlns:a="http://schemas.openxmlformats.org/drawingml/2006/main">
              <a:ext uri="{FF2B5EF4-FFF2-40B4-BE49-F238E27FC236}">
                <a16:creationId xmlns:a16="http://schemas.microsoft.com/office/drawing/2014/main" id="{AFAEEDF8-8552-4E01-BF2E-ECBDFB7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0E85E6A-CE60-4B3A-848F-E9E69CBF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85762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1.463</a:t>
            </a:r>
          </a:p>
        </p:txBody>
      </p:sp>
      <p:sp>
        <p:nvSpPr>
          <p:cNvPr id="43" name="table-cell">
            <a:extLst xmlns:a="http://schemas.openxmlformats.org/drawingml/2006/main">
              <a:ext uri="{FF2B5EF4-FFF2-40B4-BE49-F238E27FC236}">
                <a16:creationId xmlns:a16="http://schemas.microsoft.com/office/drawing/2014/main" id="{0CEBBADF-2A91-4735-825D-5BEDFDD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90950"/>
            <a:ext cx="3295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FFFE312-6CE6-49AB-AED9-06E11406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85762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1.487 [1.443, 1.555]</a:t>
            </a:r>
          </a:p>
        </p:txBody>
      </p:sp>
      <p:sp>
        <p:nvSpPr>
          <p:cNvPr id="45" name="table-cell">
            <a:extLst xmlns:a="http://schemas.openxmlformats.org/drawingml/2006/main">
              <a:ext uri="{FF2B5EF4-FFF2-40B4-BE49-F238E27FC236}">
                <a16:creationId xmlns:a16="http://schemas.microsoft.com/office/drawing/2014/main" id="{EFDDD1BD-BF72-4E0C-99F5-312FCC6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32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01E69FC-F070-4AAE-9C67-2659E86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76775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Later PPO proposal change rate</a:t>
            </a:r>
          </a:p>
        </p:txBody>
      </p:sp>
      <p:sp>
        <p:nvSpPr>
          <p:cNvPr id="47" name="table-cell">
            <a:extLst xmlns:a="http://schemas.openxmlformats.org/drawingml/2006/main">
              <a:ext uri="{FF2B5EF4-FFF2-40B4-BE49-F238E27FC236}">
                <a16:creationId xmlns:a16="http://schemas.microsoft.com/office/drawing/2014/main" id="{D5B4ED33-B1C9-492C-9C56-0889B02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101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F4C9427D-9753-4818-92F1-5D8FD8E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767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51.10%</a:t>
            </a:r>
          </a:p>
        </p:txBody>
      </p:sp>
      <p:sp>
        <p:nvSpPr>
          <p:cNvPr id="49" name="table-cell">
            <a:extLst xmlns:a="http://schemas.openxmlformats.org/drawingml/2006/main">
              <a:ext uri="{FF2B5EF4-FFF2-40B4-BE49-F238E27FC236}">
                <a16:creationId xmlns:a16="http://schemas.microsoft.com/office/drawing/2014/main" id="{38BFD62C-EBA9-4D76-B1C7-300EFA1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101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435A1D6B-BE84-4C21-A53C-D2F18DD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767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62.03%</a:t>
            </a:r>
          </a:p>
        </p:txBody>
      </p:sp>
      <p:sp>
        <p:nvSpPr>
          <p:cNvPr id="51" name="table-cell">
            <a:extLst xmlns:a="http://schemas.openxmlformats.org/drawingml/2006/main">
              <a:ext uri="{FF2B5EF4-FFF2-40B4-BE49-F238E27FC236}">
                <a16:creationId xmlns:a16="http://schemas.microsoft.com/office/drawing/2014/main" id="{B8B03C5F-7161-4802-9EDD-4A2EAB1C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13CEF2D-C629-4945-9AD0-62F265C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76775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60.01%</a:t>
            </a:r>
          </a:p>
        </p:txBody>
      </p:sp>
      <p:sp>
        <p:nvSpPr>
          <p:cNvPr id="53" name="table-cell">
            <a:extLst xmlns:a="http://schemas.openxmlformats.org/drawingml/2006/main">
              <a:ext uri="{FF2B5EF4-FFF2-40B4-BE49-F238E27FC236}">
                <a16:creationId xmlns:a16="http://schemas.microsoft.com/office/drawing/2014/main" id="{42A40679-D7AC-4FC1-BB5D-F3706B66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3295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5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B756B34-8B29-4CAF-94FD-94B2F3B6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76775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57.71% [51.10%, 62.03%]</a:t>
            </a:r>
          </a:p>
        </p:txBody>
      </p:sp>
      <p:sp>
        <p:nvSpPr>
          <p:cNvPr id="55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E3B4C066-7620-44A9-A077-1BCE75CC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56" name="takeaway">
            <a:extLst xmlns:a="http://schemas.openxmlformats.org/drawingml/2006/main">
              <a:ext uri="{FF2B5EF4-FFF2-40B4-BE49-F238E27FC236}">
                <a16:creationId xmlns:a16="http://schemas.microsoft.com/office/drawing/2014/main" id="{4CB629AF-BEB4-4CEA-A596-0AA5F93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Retained repeated corrections usually improve beyond the best saved one-time correction, and the changed measurement history often alters later PPO proposals.</a:t>
            </a:r>
          </a:p>
        </p:txBody>
      </p:sp>
    </p:spTree>
    <p:extLst>
      <p:ext uri="{BB962C8B-B14F-4D97-AF65-F5344CB8AC3E}">
        <p14:creationId xmlns:p14="http://schemas.microsoft.com/office/powerpoint/2010/main" val="1807703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rule">
            <a:extLst xmlns:a="http://schemas.openxmlformats.org/drawingml/2006/main">
              <a:ext uri="{FF2B5EF4-FFF2-40B4-BE49-F238E27FC236}">
                <a16:creationId xmlns:a16="http://schemas.microsoft.com/office/drawing/2014/main" id="{305F2741-67A3-4C16-9A63-BB6494F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EE3E3FD9-74F4-4FC1-8FBC-0079EB3F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62347A-298E-46D1-B054-BB1C608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08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04980C-9FF4-485E-8F4C-7864B3F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Separate diagnostic, where all recovered ROI POS estimates lie relative to GT</a:t>
            </a:r>
          </a:p>
        </p:txBody>
      </p:sp>
      <p:sp>
        <p:nvSpPr>
          <p:cNvPr id="5" name="table-cell">
            <a:extLst xmlns:a="http://schemas.openxmlformats.org/drawingml/2006/main">
              <a:ext uri="{FF2B5EF4-FFF2-40B4-BE49-F238E27FC236}">
                <a16:creationId xmlns:a16="http://schemas.microsoft.com/office/drawing/2014/main" id="{5E1E150B-A44D-4E93-BE35-5D53579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581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AEC2B467-C9DD-4C1B-800D-B39D1694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43100"/>
            <a:ext cx="563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Combined recovery outcome</a:t>
            </a:r>
          </a:p>
        </p:txBody>
      </p:sp>
      <p:sp>
        <p:nvSpPr>
          <p:cNvPr id="7" name="table-cell">
            <a:extLst xmlns:a="http://schemas.openxmlformats.org/drawingml/2006/main">
              <a:ext uri="{FF2B5EF4-FFF2-40B4-BE49-F238E27FC236}">
                <a16:creationId xmlns:a16="http://schemas.microsoft.com/office/drawing/2014/main" id="{38596472-FBA8-4F52-8127-438580E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1685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8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8ED331E-DCFC-406E-A6F0-808C49A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43100"/>
            <a:ext cx="151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9" name="table-cell">
            <a:extLst xmlns:a="http://schemas.openxmlformats.org/drawingml/2006/main">
              <a:ext uri="{FF2B5EF4-FFF2-40B4-BE49-F238E27FC236}">
                <a16:creationId xmlns:a16="http://schemas.microsoft.com/office/drawing/2014/main" id="{B5146849-8AFA-4715-A1D2-D91846A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18764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0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2B33532-E469-4833-A7AA-CC922D65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43100"/>
            <a:ext cx="170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Percentage</a:t>
            </a:r>
          </a:p>
        </p:txBody>
      </p:sp>
      <p:sp>
        <p:nvSpPr>
          <p:cNvPr id="11" name="table-cell">
            <a:extLst xmlns:a="http://schemas.openxmlformats.org/drawingml/2006/main">
              <a:ext uri="{FF2B5EF4-FFF2-40B4-BE49-F238E27FC236}">
                <a16:creationId xmlns:a16="http://schemas.microsoft.com/office/drawing/2014/main" id="{E07DA633-767E-49C6-BE42-04F0B04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57450"/>
            <a:ext cx="58102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110A9FC-E49F-4113-887C-C0798EF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24125"/>
            <a:ext cx="56388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GT below the lowest valid ROI estimate</a:t>
            </a:r>
          </a:p>
        </p:txBody>
      </p:sp>
      <p:sp>
        <p:nvSpPr>
          <p:cNvPr id="13" name="table-cell">
            <a:extLst xmlns:a="http://schemas.openxmlformats.org/drawingml/2006/main">
              <a:ext uri="{FF2B5EF4-FFF2-40B4-BE49-F238E27FC236}">
                <a16:creationId xmlns:a16="http://schemas.microsoft.com/office/drawing/2014/main" id="{F21A6F3E-E289-498E-A978-CEA70CF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16859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A680574-6450-432E-8DBE-A12CE66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24125"/>
            <a:ext cx="15144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620</a:t>
            </a:r>
          </a:p>
        </p:txBody>
      </p:sp>
      <p:sp>
        <p:nvSpPr>
          <p:cNvPr id="15" name="table-cell">
            <a:extLst xmlns:a="http://schemas.openxmlformats.org/drawingml/2006/main">
              <a:ext uri="{FF2B5EF4-FFF2-40B4-BE49-F238E27FC236}">
                <a16:creationId xmlns:a16="http://schemas.microsoft.com/office/drawing/2014/main" id="{4EB4185C-5438-4FD9-A170-71B5C167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57450"/>
            <a:ext cx="1876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5789825A-85A4-451F-A5F1-05A951E7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24125"/>
            <a:ext cx="17049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0.76%</a:t>
            </a:r>
          </a:p>
        </p:txBody>
      </p:sp>
      <p:sp>
        <p:nvSpPr>
          <p:cNvPr id="17" name="table-cell">
            <a:extLst xmlns:a="http://schemas.openxmlformats.org/drawingml/2006/main">
              <a:ext uri="{FF2B5EF4-FFF2-40B4-BE49-F238E27FC236}">
                <a16:creationId xmlns:a16="http://schemas.microsoft.com/office/drawing/2014/main" id="{94ABA7FF-8FC4-4689-85C5-74DBA0AE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71813"/>
            <a:ext cx="58102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8ABE361C-CEAB-49A9-9AFF-98B4752C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38488"/>
            <a:ext cx="56388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GT inside the ROI estimate range</a:t>
            </a:r>
          </a:p>
        </p:txBody>
      </p:sp>
      <p:sp>
        <p:nvSpPr>
          <p:cNvPr id="19" name="table-cell">
            <a:extLst xmlns:a="http://schemas.openxmlformats.org/drawingml/2006/main">
              <a:ext uri="{FF2B5EF4-FFF2-40B4-BE49-F238E27FC236}">
                <a16:creationId xmlns:a16="http://schemas.microsoft.com/office/drawing/2014/main" id="{D34013F2-A13F-4CB5-8F98-A2ACD66D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71813"/>
            <a:ext cx="16859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2B39F16-647E-4995-AA76-BDC1CB8B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38488"/>
            <a:ext cx="15144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74,564</a:t>
            </a:r>
          </a:p>
        </p:txBody>
      </p:sp>
      <p:sp>
        <p:nvSpPr>
          <p:cNvPr id="21" name="table-cell">
            <a:extLst xmlns:a="http://schemas.openxmlformats.org/drawingml/2006/main">
              <a:ext uri="{FF2B5EF4-FFF2-40B4-BE49-F238E27FC236}">
                <a16:creationId xmlns:a16="http://schemas.microsoft.com/office/drawing/2014/main" id="{CC1534FD-B210-4B6F-80EB-E55D6E86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1813"/>
            <a:ext cx="1876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11D3CCD-BE08-4EDB-86E1-23CE7E1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38488"/>
            <a:ext cx="17049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91.67%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AD7261CD-CB58-4384-85DA-6E89656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86175"/>
            <a:ext cx="58102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E724175A-0C71-4274-A655-0770AF3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52850"/>
            <a:ext cx="56388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GT above the highest valid ROI estimate</a:t>
            </a:r>
          </a:p>
        </p:txBody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E2314355-14DA-4585-8762-F9036C2C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86175"/>
            <a:ext cx="16859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6" name="table-value">
            <a:extLst xmlns:a="http://schemas.openxmlformats.org/drawingml/2006/main">
              <a:ext uri="{FF2B5EF4-FFF2-40B4-BE49-F238E27FC236}">
                <a16:creationId xmlns:a16="http://schemas.microsoft.com/office/drawing/2014/main" id="{5F94B740-DDF2-4787-95A3-39C3B208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52850"/>
            <a:ext cx="15144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6,159</a:t>
            </a:r>
          </a:p>
        </p:txBody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834622FB-667E-4008-B158-FF88D433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86175"/>
            <a:ext cx="1876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8" name="table-value">
            <a:extLst xmlns:a="http://schemas.openxmlformats.org/drawingml/2006/main">
              <a:ext uri="{FF2B5EF4-FFF2-40B4-BE49-F238E27FC236}">
                <a16:creationId xmlns:a16="http://schemas.microsoft.com/office/drawing/2014/main" id="{50C766F3-81D9-4118-857D-944CC4D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17049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7.57%</a:t>
            </a:r>
          </a:p>
        </p:txBody>
      </p:sp>
      <p:sp>
        <p:nvSpPr>
          <p:cNvPr id="29" name="table-cell">
            <a:extLst xmlns:a="http://schemas.openxmlformats.org/drawingml/2006/main">
              <a:ext uri="{FF2B5EF4-FFF2-40B4-BE49-F238E27FC236}">
                <a16:creationId xmlns:a16="http://schemas.microsoft.com/office/drawing/2014/main" id="{8FED4ED3-61DF-4281-A73C-1A8E340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0538"/>
            <a:ext cx="5810250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0" name="table-value">
            <a:extLst xmlns:a="http://schemas.openxmlformats.org/drawingml/2006/main">
              <a:ext uri="{FF2B5EF4-FFF2-40B4-BE49-F238E27FC236}">
                <a16:creationId xmlns:a16="http://schemas.microsoft.com/office/drawing/2014/main" id="{440C1E00-15B6-4C7D-9C31-B3C85812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67213"/>
            <a:ext cx="56388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GT outside the range</a:t>
            </a:r>
          </a:p>
        </p:txBody>
      </p:sp>
      <p:sp>
        <p:nvSpPr>
          <p:cNvPr id="31" name="table-cell">
            <a:extLst xmlns:a="http://schemas.openxmlformats.org/drawingml/2006/main">
              <a:ext uri="{FF2B5EF4-FFF2-40B4-BE49-F238E27FC236}">
                <a16:creationId xmlns:a16="http://schemas.microsoft.com/office/drawing/2014/main" id="{86579A4A-6775-4147-8F96-8BF2C1C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0538"/>
            <a:ext cx="16859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2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D068526-AE01-468E-BD32-4C5E06C0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367213"/>
            <a:ext cx="15144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6,779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C83E341D-7468-43BA-83F5-F645EE6F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00538"/>
            <a:ext cx="1876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4" name="table-value">
            <a:extLst xmlns:a="http://schemas.openxmlformats.org/drawingml/2006/main">
              <a:ext uri="{FF2B5EF4-FFF2-40B4-BE49-F238E27FC236}">
                <a16:creationId xmlns:a16="http://schemas.microsoft.com/office/drawing/2014/main" id="{DB049FD3-DA72-40D3-90F9-B126415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67213"/>
            <a:ext cx="1704975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8.33%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673AED7-E04D-42FE-88A0-54345E71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032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86581"/>
                </a:solidFill>
              </a:defRPr>
            </a:pPr>
            <a:r>
              <a:rPr sz="1575" b="1">
                <a:solidFill>
                  <a:srgbClr val="486581"/>
                </a:solidFill>
              </a:rPr>
              <a:t>Denominator: 81,343 clip-hops with all 12 executed ROI identities recovered and at least one valid finite HR estimate.</a:t>
            </a:r>
          </a:p>
        </p:txBody>
      </p:sp>
      <p:sp>
        <p:nvSpPr>
          <p:cNvPr id="36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79861549-A126-436C-82E9-F9D73E0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37" name="takeaway">
            <a:extLst xmlns:a="http://schemas.openxmlformats.org/drawingml/2006/main">
              <a:ext uri="{FF2B5EF4-FFF2-40B4-BE49-F238E27FC236}">
                <a16:creationId xmlns:a16="http://schemas.microsoft.com/office/drawing/2014/main" id="{DE3D2AA7-BCFA-440C-ABBF-F60974D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GT was outside the recovered ROI POS range in 8.33% of the usable complete-recovery hops, most often above every ROI estimate.</a:t>
            </a:r>
          </a:p>
        </p:txBody>
      </p:sp>
    </p:spTree>
    <p:extLst>
      <p:ext uri="{BB962C8B-B14F-4D97-AF65-F5344CB8AC3E}">
        <p14:creationId xmlns:p14="http://schemas.microsoft.com/office/powerpoint/2010/main" val="515429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ule">
            <a:extLst xmlns:a="http://schemas.openxmlformats.org/drawingml/2006/main">
              <a:ext uri="{FF2B5EF4-FFF2-40B4-BE49-F238E27FC236}">
                <a16:creationId xmlns:a16="http://schemas.microsoft.com/office/drawing/2014/main" id="{CBB8459F-5861-49FE-AEB2-604C676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C94B2374-7FF2-4B0D-B565-74F9D71B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425BFA-FDE7-40B2-B5C0-0AEEB8CD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09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E6D637-25EB-4885-A8FB-DDC6360B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How far outside the ROI range was GT?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cc82a32044ab2"/>
          <a:stretch xmlns:a="http://schemas.openxmlformats.org/drawingml/2006/main"/>
        </p:blipFill>
        <p:spPr>
          <a:xfrm xmlns:a="http://schemas.openxmlformats.org/drawingml/2006/main">
            <a:off x="2942897" y="1295400"/>
            <a:ext cx="6306207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table-cell">
            <a:extLst xmlns:a="http://schemas.openxmlformats.org/drawingml/2006/main">
              <a:ext uri="{FF2B5EF4-FFF2-40B4-BE49-F238E27FC236}">
                <a16:creationId xmlns:a16="http://schemas.microsoft.com/office/drawing/2014/main" id="{2A707779-5A15-40E2-AE56-CCC089E5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895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D67C4E5-7ED9-424E-857F-1D670B44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00550"/>
            <a:ext cx="3724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8" name="table-cell">
            <a:extLst xmlns:a="http://schemas.openxmlformats.org/drawingml/2006/main">
              <a:ext uri="{FF2B5EF4-FFF2-40B4-BE49-F238E27FC236}">
                <a16:creationId xmlns:a16="http://schemas.microsoft.com/office/drawing/2014/main" id="{CFBFB832-8240-4916-B682-27B14E4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9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64B9DE3-394D-4BB9-B805-52B595B5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table-cell">
            <a:extLst xmlns:a="http://schemas.openxmlformats.org/drawingml/2006/main">
              <a:ext uri="{FF2B5EF4-FFF2-40B4-BE49-F238E27FC236}">
                <a16:creationId xmlns:a16="http://schemas.microsoft.com/office/drawing/2014/main" id="{9142C4FE-A71B-46C3-86C8-FD1A3D8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2435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1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C6FEFE6-02E3-4BB5-A36E-EE9FDA9F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Mean miss</a:t>
            </a:r>
          </a:p>
        </p:txBody>
      </p:sp>
      <p:sp>
        <p:nvSpPr>
          <p:cNvPr id="12" name="table-cell">
            <a:extLst xmlns:a="http://schemas.openxmlformats.org/drawingml/2006/main">
              <a:ext uri="{FF2B5EF4-FFF2-40B4-BE49-F238E27FC236}">
                <a16:creationId xmlns:a16="http://schemas.microsoft.com/office/drawing/2014/main" id="{C8C1DA51-7415-45CD-BBA6-C0C523B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243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3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A21AB01-DCCF-49EE-9D39-F84F046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Median</a:t>
            </a:r>
          </a:p>
        </p:txBody>
      </p:sp>
      <p:sp>
        <p:nvSpPr>
          <p:cNvPr id="14" name="table-cell">
            <a:extLst xmlns:a="http://schemas.openxmlformats.org/drawingml/2006/main">
              <a:ext uri="{FF2B5EF4-FFF2-40B4-BE49-F238E27FC236}">
                <a16:creationId xmlns:a16="http://schemas.microsoft.com/office/drawing/2014/main" id="{A377ACC6-B034-4616-BA66-AABBC7EF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2435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5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85360F2-17AD-4E97-8864-ECD1F96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P90</a:t>
            </a:r>
          </a:p>
        </p:txBody>
      </p:sp>
      <p:sp>
        <p:nvSpPr>
          <p:cNvPr id="16" name="table-cell">
            <a:extLst xmlns:a="http://schemas.openxmlformats.org/drawingml/2006/main">
              <a:ext uri="{FF2B5EF4-FFF2-40B4-BE49-F238E27FC236}">
                <a16:creationId xmlns:a16="http://schemas.microsoft.com/office/drawing/2014/main" id="{5098753D-4A59-457D-8B8B-167CBD0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324350"/>
            <a:ext cx="1514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8FB6F3D-AE97-45D8-B993-074DACB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Maximum</a:t>
            </a:r>
          </a:p>
        </p:txBody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50C17B80-2352-4BF0-8544-D932B6A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89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19" name="table-value">
            <a:extLst xmlns:a="http://schemas.openxmlformats.org/drawingml/2006/main">
              <a:ext uri="{FF2B5EF4-FFF2-40B4-BE49-F238E27FC236}">
                <a16:creationId xmlns:a16="http://schemas.microsoft.com/office/drawing/2014/main" id="{2A6FF06D-43D5-4AF6-96CE-38721CE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2917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GT below all valid ROI estimates</a:t>
            </a:r>
          </a:p>
        </p:txBody>
      </p:sp>
      <p:sp>
        <p:nvSpPr>
          <p:cNvPr id="20" name="table-cell">
            <a:extLst xmlns:a="http://schemas.openxmlformats.org/drawingml/2006/main">
              <a:ext uri="{FF2B5EF4-FFF2-40B4-BE49-F238E27FC236}">
                <a16:creationId xmlns:a16="http://schemas.microsoft.com/office/drawing/2014/main" id="{AFCBBF4E-3C7E-4862-9EF0-DF80639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62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1" name="table-value">
            <a:extLst xmlns:a="http://schemas.openxmlformats.org/drawingml/2006/main">
              <a:ext uri="{FF2B5EF4-FFF2-40B4-BE49-F238E27FC236}">
                <a16:creationId xmlns:a16="http://schemas.microsoft.com/office/drawing/2014/main" id="{4621B18D-1A45-4E5E-A89E-3CD73526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620</a:t>
            </a:r>
          </a:p>
        </p:txBody>
      </p:sp>
      <p:sp>
        <p:nvSpPr>
          <p:cNvPr id="22" name="table-cell">
            <a:extLst xmlns:a="http://schemas.openxmlformats.org/drawingml/2006/main">
              <a:ext uri="{FF2B5EF4-FFF2-40B4-BE49-F238E27FC236}">
                <a16:creationId xmlns:a16="http://schemas.microsoft.com/office/drawing/2014/main" id="{4FAFB329-2AD5-47B3-9E54-83B733E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3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99B05EF-F1CF-4060-A048-23F37A4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291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5.3337 BPM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54A81FFC-49B8-4951-8D6E-8188F113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625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5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99151CD-3070-45A6-AFF1-1651AE9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291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3.0762</a:t>
            </a:r>
          </a:p>
        </p:txBody>
      </p:sp>
      <p:sp>
        <p:nvSpPr>
          <p:cNvPr id="26" name="table-cell">
            <a:extLst xmlns:a="http://schemas.openxmlformats.org/drawingml/2006/main">
              <a:ext uri="{FF2B5EF4-FFF2-40B4-BE49-F238E27FC236}">
                <a16:creationId xmlns:a16="http://schemas.microsoft.com/office/drawing/2014/main" id="{ED9EDD58-88CA-4ECA-BA17-58815DB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625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7" name="table-value">
            <a:extLst xmlns:a="http://schemas.openxmlformats.org/drawingml/2006/main">
              <a:ext uri="{FF2B5EF4-FFF2-40B4-BE49-F238E27FC236}">
                <a16:creationId xmlns:a16="http://schemas.microsoft.com/office/drawing/2014/main" id="{A1E311EC-CCBC-44F8-AF39-A54B6939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291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12.7441</a:t>
            </a:r>
          </a:p>
        </p:txBody>
      </p:sp>
      <p:sp>
        <p:nvSpPr>
          <p:cNvPr id="28" name="table-cell">
            <a:extLst xmlns:a="http://schemas.openxmlformats.org/drawingml/2006/main">
              <a:ext uri="{FF2B5EF4-FFF2-40B4-BE49-F238E27FC236}">
                <a16:creationId xmlns:a16="http://schemas.microsoft.com/office/drawing/2014/main" id="{11B0D5F8-FC3F-4DB5-87E1-F2B4AFC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762500"/>
            <a:ext cx="1514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29" name="table-value">
            <a:extLst xmlns:a="http://schemas.openxmlformats.org/drawingml/2006/main">
              <a:ext uri="{FF2B5EF4-FFF2-40B4-BE49-F238E27FC236}">
                <a16:creationId xmlns:a16="http://schemas.microsoft.com/office/drawing/2014/main" id="{11444BEC-1EC7-433B-AF50-7F09B0B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2917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44.3848</a:t>
            </a:r>
          </a:p>
        </p:txBody>
      </p:sp>
      <p:sp>
        <p:nvSpPr>
          <p:cNvPr id="30" name="table-cell">
            <a:extLst xmlns:a="http://schemas.openxmlformats.org/drawingml/2006/main">
              <a:ext uri="{FF2B5EF4-FFF2-40B4-BE49-F238E27FC236}">
                <a16:creationId xmlns:a16="http://schemas.microsoft.com/office/drawing/2014/main" id="{B15D557F-7CEC-4ADB-86A6-5938AAF5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89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1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411161F-4B62-4DB3-8410-C7015AA7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2922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GT above all valid ROI estimates</a:t>
            </a:r>
          </a:p>
        </p:txBody>
      </p:sp>
      <p:sp>
        <p:nvSpPr>
          <p:cNvPr id="32" name="table-cell">
            <a:extLst xmlns:a="http://schemas.openxmlformats.org/drawingml/2006/main">
              <a:ext uri="{FF2B5EF4-FFF2-40B4-BE49-F238E27FC236}">
                <a16:creationId xmlns:a16="http://schemas.microsoft.com/office/drawing/2014/main" id="{177A93A0-6191-4728-BA1A-0584143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162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3" name="table-value">
            <a:extLst xmlns:a="http://schemas.openxmlformats.org/drawingml/2006/main">
              <a:ext uri="{FF2B5EF4-FFF2-40B4-BE49-F238E27FC236}">
                <a16:creationId xmlns:a16="http://schemas.microsoft.com/office/drawing/2014/main" id="{3AF42ACA-D6BD-43D7-9B65-A48C081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292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6,159</a:t>
            </a:r>
          </a:p>
        </p:txBody>
      </p:sp>
      <p:sp>
        <p:nvSpPr>
          <p:cNvPr id="34" name="table-cell">
            <a:extLst xmlns:a="http://schemas.openxmlformats.org/drawingml/2006/main">
              <a:ext uri="{FF2B5EF4-FFF2-40B4-BE49-F238E27FC236}">
                <a16:creationId xmlns:a16="http://schemas.microsoft.com/office/drawing/2014/main" id="{2F59C39F-14A4-4AC5-84A4-373106AC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25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5" name="table-value">
            <a:extLst xmlns:a="http://schemas.openxmlformats.org/drawingml/2006/main">
              <a:ext uri="{FF2B5EF4-FFF2-40B4-BE49-F238E27FC236}">
                <a16:creationId xmlns:a16="http://schemas.microsoft.com/office/drawing/2014/main" id="{C9C710A5-043F-46C1-9B82-A1182BF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29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8.1062 BPM</a:t>
            </a:r>
          </a:p>
        </p:txBody>
      </p:sp>
      <p:sp>
        <p:nvSpPr>
          <p:cNvPr id="36" name="table-cell">
            <a:extLst xmlns:a="http://schemas.openxmlformats.org/drawingml/2006/main">
              <a:ext uri="{FF2B5EF4-FFF2-40B4-BE49-F238E27FC236}">
                <a16:creationId xmlns:a16="http://schemas.microsoft.com/office/drawing/2014/main" id="{BDD86BE9-45D5-423E-A31E-A130076C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625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7" name="table-value">
            <a:extLst xmlns:a="http://schemas.openxmlformats.org/drawingml/2006/main">
              <a:ext uri="{FF2B5EF4-FFF2-40B4-BE49-F238E27FC236}">
                <a16:creationId xmlns:a16="http://schemas.microsoft.com/office/drawing/2014/main" id="{966C3AAA-C170-4FEA-8E6B-2D42C1B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292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5.2734</a:t>
            </a:r>
          </a:p>
        </p:txBody>
      </p:sp>
      <p:sp>
        <p:nvSpPr>
          <p:cNvPr id="38" name="table-cell">
            <a:extLst xmlns:a="http://schemas.openxmlformats.org/drawingml/2006/main">
              <a:ext uri="{FF2B5EF4-FFF2-40B4-BE49-F238E27FC236}">
                <a16:creationId xmlns:a16="http://schemas.microsoft.com/office/drawing/2014/main" id="{BFAB2CCD-8E2E-49F5-AA8D-C7E7831C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625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39" name="table-value">
            <a:extLst xmlns:a="http://schemas.openxmlformats.org/drawingml/2006/main">
              <a:ext uri="{FF2B5EF4-FFF2-40B4-BE49-F238E27FC236}">
                <a16:creationId xmlns:a16="http://schemas.microsoft.com/office/drawing/2014/main" id="{B0E4F6A2-2266-4774-BC5B-6314D46D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292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18.8965</a:t>
            </a:r>
          </a:p>
        </p:txBody>
      </p:sp>
      <p:sp>
        <p:nvSpPr>
          <p:cNvPr id="40" name="table-cell">
            <a:extLst xmlns:a="http://schemas.openxmlformats.org/drawingml/2006/main">
              <a:ext uri="{FF2B5EF4-FFF2-40B4-BE49-F238E27FC236}">
                <a16:creationId xmlns:a16="http://schemas.microsoft.com/office/drawing/2014/main" id="{2DE3A428-DED7-4F22-983D-DD190A1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162550"/>
            <a:ext cx="15144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41" name="table-value">
            <a:extLst xmlns:a="http://schemas.openxmlformats.org/drawingml/2006/main">
              <a:ext uri="{FF2B5EF4-FFF2-40B4-BE49-F238E27FC236}">
                <a16:creationId xmlns:a16="http://schemas.microsoft.com/office/drawing/2014/main" id="{5A7F5169-5E99-4026-9D41-A9045054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29225"/>
            <a:ext cx="1343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88.3301</a:t>
            </a:r>
          </a:p>
        </p:txBody>
      </p:sp>
      <p:sp>
        <p:nvSpPr>
          <p:cNvPr id="42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100FF8A0-BCC7-469A-BB50-6220BE7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8A81B0F-FD53-4C33-A862-C80CD9F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dominant outside-range failure is POS underestimating GT across every recovered valid ROI.</a:t>
            </a:r>
          </a:p>
        </p:txBody>
      </p:sp>
    </p:spTree>
    <p:extLst>
      <p:ext uri="{BB962C8B-B14F-4D97-AF65-F5344CB8AC3E}">
        <p14:creationId xmlns:p14="http://schemas.microsoft.com/office/powerpoint/2010/main" val="20357765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">
            <a:extLst xmlns:a="http://schemas.openxmlformats.org/drawingml/2006/main">
              <a:ext uri="{FF2B5EF4-FFF2-40B4-BE49-F238E27FC236}">
                <a16:creationId xmlns:a16="http://schemas.microsoft.com/office/drawing/2014/main" id="{17ACA753-BF61-42D5-80A9-E5C9AB8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A58B8B62-BF14-43EA-94E3-E918893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540888-9514-4067-9630-0FD41A5D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10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F12F76-FD02-4DE7-9A34-AA2C4EAE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The diagnostics answer different questions</a:t>
            </a:r>
          </a:p>
        </p:txBody>
      </p:sp>
      <p:sp>
        <p:nvSpPr>
          <p:cNvPr id="5" name="regret-column">
            <a:extLst xmlns:a="http://schemas.openxmlformats.org/drawingml/2006/main">
              <a:ext uri="{FF2B5EF4-FFF2-40B4-BE49-F238E27FC236}">
                <a16:creationId xmlns:a16="http://schemas.microsoft.com/office/drawing/2014/main" id="{169B4755-382D-4B85-8055-0E9C3E68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pos-column">
            <a:extLst xmlns:a="http://schemas.openxmlformats.org/drawingml/2006/main">
              <a:ext uri="{FF2B5EF4-FFF2-40B4-BE49-F238E27FC236}">
                <a16:creationId xmlns:a16="http://schemas.microsoft.com/office/drawing/2014/main" id="{C4F1E3C2-9079-4DEF-879C-991D629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1435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40851C-FA5D-466E-975B-89750594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55B"/>
                </a:solidFill>
              </a:defRPr>
            </a:pPr>
            <a:r>
              <a:rPr sz="2175" b="1">
                <a:solidFill>
                  <a:srgbClr val="12355B"/>
                </a:solidFill>
              </a:rPr>
              <a:t>15-hop regret diagnostic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BDEAEB18-FABA-42CA-8804-2F59D8BD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Is there a better action at the same state?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1D822924-D842-4FD7-8934-DB3ED3F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Does one correction affect later PPO decisions?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276725A1-F25F-43FB-A4A2-5488A736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How much 15-hop headroom remains?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8D8273-BAFE-4E76-95E1-4582A09D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55B"/>
                </a:solidFill>
              </a:defRPr>
            </a:pPr>
            <a:r>
              <a:rPr sz="2175" b="1">
                <a:solidFill>
                  <a:srgbClr val="12355B"/>
                </a:solidFill>
              </a:rPr>
              <a:t>POS range diagnostic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0431B3D4-7EBF-4333-AF3C-B2B035C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Is GT numerically reachable by any recovered ROI POS estimate?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E55B5AED-B542-40AF-AF21-233164A2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Is POS collectively above or below GT?</a:t>
            </a:r>
          </a:p>
        </p:txBody>
      </p:sp>
      <p:sp>
        <p:nvSpPr>
          <p:cNvPr id="14" name="bullet">
            <a:extLst xmlns:a="http://schemas.openxmlformats.org/drawingml/2006/main">
              <a:ext uri="{FF2B5EF4-FFF2-40B4-BE49-F238E27FC236}">
                <a16:creationId xmlns:a16="http://schemas.microsoft.com/office/drawing/2014/main" id="{81940541-9C97-419F-8941-02A04C3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</a:defRPr>
            </a:pPr>
            <a:r>
              <a:rPr sz="1875" b="0">
                <a:solidFill>
                  <a:srgbClr val="102A43"/>
                </a:solidFill>
              </a:rPr>
              <a:t>• How large are the outside-range misses?</a:t>
            </a:r>
          </a:p>
        </p:txBody>
      </p:sp>
      <p:sp>
        <p:nvSpPr>
          <p:cNvPr id="15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1D000F5F-221B-41DC-B33A-CDA9279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D71B6EE9-CE8D-4ED7-9DF3-452DB36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One diagnostic measures controller/action headroom; the other measures estimator-level candidate-range failure. Neither alone explains the other.</a:t>
            </a:r>
          </a:p>
        </p:txBody>
      </p:sp>
    </p:spTree>
    <p:extLst>
      <p:ext uri="{BB962C8B-B14F-4D97-AF65-F5344CB8AC3E}">
        <p14:creationId xmlns:p14="http://schemas.microsoft.com/office/powerpoint/2010/main" val="1792853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">
            <a:extLst xmlns:a="http://schemas.openxmlformats.org/drawingml/2006/main">
              <a:ext uri="{FF2B5EF4-FFF2-40B4-BE49-F238E27FC236}">
                <a16:creationId xmlns:a16="http://schemas.microsoft.com/office/drawing/2014/main" id="{5B9C6D3F-5B8B-4802-9833-104A43D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A4B57EAB-20B0-4780-81D2-55C5EAB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1D7B1F-3422-4AEE-BECF-294E1CB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11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974CB7-6549-4D5B-B524-1E0D631E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What is complete and what remains before final interpretation</a:t>
            </a:r>
          </a:p>
        </p:txBody>
      </p:sp>
      <p:sp>
        <p:nvSpPr>
          <p:cNvPr id="5" name="complete-column">
            <a:extLst xmlns:a="http://schemas.openxmlformats.org/drawingml/2006/main">
              <a:ext uri="{FF2B5EF4-FFF2-40B4-BE49-F238E27FC236}">
                <a16:creationId xmlns:a16="http://schemas.microsoft.com/office/drawing/2014/main" id="{6D5B76C7-AF90-4F35-AFE2-362AD007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143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6" name="unresolved-column">
            <a:extLst xmlns:a="http://schemas.openxmlformats.org/drawingml/2006/main">
              <a:ext uri="{FF2B5EF4-FFF2-40B4-BE49-F238E27FC236}">
                <a16:creationId xmlns:a16="http://schemas.microsoft.com/office/drawing/2014/main" id="{09F48181-AA3F-4826-B496-803AC45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143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B9CBD9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F12929-7D43-4F6A-BD61-2B059806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Complete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CC0743BE-8081-4D47-B9A1-045E69B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• Three full-cohort producer runs and matching v2 aggregates, one for each Advantage PPO seed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8AE53E16-F406-41E8-9D30-F1956F4E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• Three-seed 15-hop behavioral tables with the same definitions and aggregation rule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7E3C397F-9B85-4E92-A009-30C2D733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43"/>
                </a:solidFill>
              </a:defRPr>
            </a:pPr>
            <a:r>
              <a:rPr sz="1725" b="0">
                <a:solidFill>
                  <a:srgbClr val="102A43"/>
                </a:solidFill>
              </a:rPr>
              <a:t>• Three-seed POS range and miss-distribution analysis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ACFE47-2051-484A-920E-E6F25C61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</a:defRPr>
            </a:pPr>
            <a:r>
              <a:rPr sz="2250" b="1">
                <a:solidFill>
                  <a:srgbClr val="12355B"/>
                </a:solidFill>
              </a:rPr>
              <a:t>Still separate or unresolved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972EE128-9E85-4212-8A04-788C88E8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• The four-case visual audit remains blocked at replay validation and provides no behavioral conclusion.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C9A56A75-A93B-4221-8859-2D3EF988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• A matched simple non-RL selection baseline could be the next comparison if it would change the research decision.</a:t>
            </a:r>
          </a:p>
        </p:txBody>
      </p:sp>
      <p:sp>
        <p:nvSpPr>
          <p:cNvPr id="14" name="bullet">
            <a:extLst xmlns:a="http://schemas.openxmlformats.org/drawingml/2006/main">
              <a:ext uri="{FF2B5EF4-FFF2-40B4-BE49-F238E27FC236}">
                <a16:creationId xmlns:a16="http://schemas.microsoft.com/office/drawing/2014/main" id="{F8EDBE58-B0B2-4538-A67A-BB70629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381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• MMPD transfer remains outside this MCD-only diagnostic update.</a:t>
            </a:r>
          </a:p>
        </p:txBody>
      </p:sp>
      <p:sp>
        <p:nvSpPr>
          <p:cNvPr id="15" name="takeaway-strip">
            <a:extLst xmlns:a="http://schemas.openxmlformats.org/drawingml/2006/main">
              <a:ext uri="{FF2B5EF4-FFF2-40B4-BE49-F238E27FC236}">
                <a16:creationId xmlns:a16="http://schemas.microsoft.com/office/drawing/2014/main" id="{DEF98329-1D6C-4755-AA86-DD3FFA62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322DA705-5DA9-458A-9454-9BE0549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planned three-seed aggregation is complete; the case-level explanation and broader baseline comparison remain separate questions.</a:t>
            </a:r>
          </a:p>
        </p:txBody>
      </p:sp>
    </p:spTree>
    <p:extLst>
      <p:ext uri="{BB962C8B-B14F-4D97-AF65-F5344CB8AC3E}">
        <p14:creationId xmlns:p14="http://schemas.microsoft.com/office/powerpoint/2010/main" val="1830923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">
            <a:extLst xmlns:a="http://schemas.openxmlformats.org/drawingml/2006/main">
              <a:ext uri="{FF2B5EF4-FFF2-40B4-BE49-F238E27FC236}">
                <a16:creationId xmlns:a16="http://schemas.microsoft.com/office/drawing/2014/main" id="{3F580C91-56EA-4E14-8A1B-8DBA3C8C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18155495-8294-4D6E-B752-1CFBD91C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MCD evaluation update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4F1269-7550-439F-A37D-12BDD20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1DD784-B20E-4E9D-B235-433BAB1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5B"/>
                </a:solidFill>
              </a:defRPr>
            </a:pPr>
            <a:r>
              <a:rPr sz="3600" b="1">
                <a:solidFill>
                  <a:srgbClr val="12355B"/>
                </a:solidFill>
              </a:rPr>
              <a:t>What we can discuss tomorrow</a:t>
            </a:r>
          </a:p>
        </p:txBody>
      </p:sp>
      <p:sp>
        <p:nvSpPr>
          <p:cNvPr id="5" name="bullet">
            <a:extLst xmlns:a="http://schemas.openxmlformats.org/drawingml/2006/main">
              <a:ext uri="{FF2B5EF4-FFF2-40B4-BE49-F238E27FC236}">
                <a16:creationId xmlns:a16="http://schemas.microsoft.com/office/drawing/2014/main" id="{C6AF3587-093E-40E1-B288-B4F23225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Across seeds, 64.88% to 67.12% of eligible anchors had positive immediate regret.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BB34654C-B10C-47CE-9FAC-0D390C52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The retrospective best saved one-time deviation beat factual H15 in 96.62% to 96.71% of eligible anchors, with a subject-weighted H15 reduction of 2.113 to 2.310 BPM.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E8DC0D03-F6FB-4A94-B5EA-4AA12387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The retained repeated path reduced H15 error versus factual by 3.592 to 3.890 BPM and changed later PPO proposals in 51.10% to 62.03% of cases.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CC3C9CE0-9F7B-41BC-A162-7123419C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Separately, GT was outside the recovered ROI POS range in 8.33% of usable complete-recovery clip-hops, most often above every ROI estimate.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6B2700A8-B130-4C3E-8718-8D09A47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5143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These are MCD-only, GT-informed offline diagnostics. They measure available headroom but do not provide a deployable policy, prove optimality, establish transfer, or explain the internal reason PPO made a choice.</a:t>
            </a:r>
          </a:p>
        </p:txBody>
      </p:sp>
      <p:sp>
        <p:nvSpPr>
          <p:cNvPr id="10" name="decision-box">
            <a:extLst xmlns:a="http://schemas.openxmlformats.org/drawingml/2006/main">
              <a:ext uri="{FF2B5EF4-FFF2-40B4-BE49-F238E27FC236}">
                <a16:creationId xmlns:a16="http://schemas.microsoft.com/office/drawing/2014/main" id="{ABDDDDFC-F9F8-4C75-9639-D3B5E572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91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9525">
            <a:solidFill>
              <a:srgbClr val="12355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CCE569D-9837-4EB0-8C43-0597D5D1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Decision requested: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7A9AD3-8EC3-4583-8492-1DB4831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Interpret the completed three-seed results together and decide whether the next priority is a matched simple selection baseline or the blocked case-level audit.</a:t>
            </a:r>
          </a:p>
        </p:txBody>
      </p:sp>
    </p:spTree>
    <p:extLst>
      <p:ext uri="{BB962C8B-B14F-4D97-AF65-F5344CB8AC3E}">
        <p14:creationId xmlns:p14="http://schemas.microsoft.com/office/powerpoint/2010/main" val="553146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2026-09-02T08:02:16.1820000Z</dcterms:created>
  <dcterms:modified xsi:type="dcterms:W3CDTF">2026-09-02T08:02:16.1820000Z</dcterms:modified>
</coreProperties>
</file>